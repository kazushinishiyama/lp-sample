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4d9a1028d54869" /><Relationship Type="http://schemas.openxmlformats.org/officeDocument/2006/relationships/extended-properties" Target="/docProps/app.xml" Id="R3c4fa2d7b40942ea" /><Relationship Type="http://schemas.openxmlformats.org/officeDocument/2006/relationships/officeDocument" Target="/ppt/presentation.xml" Id="R4770357964be45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604a2beade4c81"/>
  </p:sldMasterIdLst>
  <p:notesMasterIdLst>
    <p:notesMasterId xmlns:r="http://schemas.openxmlformats.org/officeDocument/2006/relationships" r:id="R9a42080de2b447f9"/>
  </p:notesMasterIdLst>
  <p:sldIdLst>
    <p:sldId xmlns:r="http://schemas.openxmlformats.org/officeDocument/2006/relationships" id="256" r:id="Rb519a89258394406"/>
    <p:sldId xmlns:r="http://schemas.openxmlformats.org/officeDocument/2006/relationships" id="257" r:id="Rcf43db8dbba74398"/>
    <p:sldId xmlns:r="http://schemas.openxmlformats.org/officeDocument/2006/relationships" id="258" r:id="R6043e4b8b0df4a8d"/>
    <p:sldId xmlns:r="http://schemas.openxmlformats.org/officeDocument/2006/relationships" id="259" r:id="Rda5a432c35c346bc"/>
    <p:sldId xmlns:r="http://schemas.openxmlformats.org/officeDocument/2006/relationships" id="260" r:id="Rcfd45ee187a6451a"/>
    <p:sldId xmlns:r="http://schemas.openxmlformats.org/officeDocument/2006/relationships" id="261" r:id="R9d3a7c79821642a5"/>
    <p:sldId xmlns:r="http://schemas.openxmlformats.org/officeDocument/2006/relationships" id="262" r:id="R4bc7d695f4714ebc"/>
    <p:sldId xmlns:r="http://schemas.openxmlformats.org/officeDocument/2006/relationships" id="263" r:id="R4afb1e2d362544b6"/>
    <p:sldId xmlns:r="http://schemas.openxmlformats.org/officeDocument/2006/relationships" id="264" r:id="R3b3fb22dccdc4db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604a2beade4c81" /><Relationship Type="http://schemas.openxmlformats.org/officeDocument/2006/relationships/theme" Target="/ppt/theme/theme1.xml" Id="Rd4da6303c01843c3" /><Relationship Type="http://schemas.openxmlformats.org/officeDocument/2006/relationships/notesMaster" Target="/ppt/notesMasters/notesMaster1.xml" Id="R9a42080de2b447f9" /><Relationship Type="http://schemas.openxmlformats.org/officeDocument/2006/relationships/presProps" Target="/ppt/presProps.xml" Id="R28c3ebcef9744395" /><Relationship Type="http://schemas.openxmlformats.org/officeDocument/2006/relationships/viewProps" Target="/ppt/viewProps.xml" Id="R4e01406247ff49f3" /><Relationship Type="http://schemas.openxmlformats.org/officeDocument/2006/relationships/tableStyles" Target="/ppt/tableStyles.xml" Id="R42687c890c95431b" /><Relationship Type="http://schemas.openxmlformats.org/officeDocument/2006/relationships/slide" Target="/ppt/slides/slide1.xml" Id="Rb519a89258394406" /><Relationship Type="http://schemas.openxmlformats.org/officeDocument/2006/relationships/slide" Target="/ppt/slides/slide2.xml" Id="Rcf43db8dbba74398" /><Relationship Type="http://schemas.openxmlformats.org/officeDocument/2006/relationships/slide" Target="/ppt/slides/slide3.xml" Id="R6043e4b8b0df4a8d" /><Relationship Type="http://schemas.openxmlformats.org/officeDocument/2006/relationships/slide" Target="/ppt/slides/slide4.xml" Id="Rda5a432c35c346bc" /><Relationship Type="http://schemas.openxmlformats.org/officeDocument/2006/relationships/slide" Target="/ppt/slides/slide5.xml" Id="Rcfd45ee187a6451a" /><Relationship Type="http://schemas.openxmlformats.org/officeDocument/2006/relationships/slide" Target="/ppt/slides/slide6.xml" Id="R9d3a7c79821642a5" /><Relationship Type="http://schemas.openxmlformats.org/officeDocument/2006/relationships/slide" Target="/ppt/slides/slide7.xml" Id="R4bc7d695f4714ebc" /><Relationship Type="http://schemas.openxmlformats.org/officeDocument/2006/relationships/slide" Target="/ppt/slides/slide8.xml" Id="R4afb1e2d362544b6" /><Relationship Type="http://schemas.openxmlformats.org/officeDocument/2006/relationships/slide" Target="/ppt/slides/slide9.xml" Id="R3b3fb22dccdc4d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3a737bc9eb94d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75888ae4174b67" /><Relationship Type="http://schemas.openxmlformats.org/officeDocument/2006/relationships/notesMaster" Target="/ppt/notesMasters/notesMaster1.xml" Id="Rc482e8437c3048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e8ad0e94e1403d" /><Relationship Type="http://schemas.openxmlformats.org/officeDocument/2006/relationships/notesMaster" Target="/ppt/notesMasters/notesMaster1.xml" Id="Re52d88c046e348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3809f8acfa4674" /><Relationship Type="http://schemas.openxmlformats.org/officeDocument/2006/relationships/notesMaster" Target="/ppt/notesMasters/notesMaster1.xml" Id="Raaae2e1526a240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a9fd5a7936f4c16" /><Relationship Type="http://schemas.openxmlformats.org/officeDocument/2006/relationships/notesMaster" Target="/ppt/notesMasters/notesMaster1.xml" Id="Rc243945d43df4e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b3c01ca96944d3" /><Relationship Type="http://schemas.openxmlformats.org/officeDocument/2006/relationships/notesMaster" Target="/ppt/notesMasters/notesMaster1.xml" Id="R1e6a690ec6c84c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86a6aaf10743c0" /><Relationship Type="http://schemas.openxmlformats.org/officeDocument/2006/relationships/notesMaster" Target="/ppt/notesMasters/notesMaster1.xml" Id="R92f0ad4ddfcd4ac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e4bd3c0485447b0" /><Relationship Type="http://schemas.openxmlformats.org/officeDocument/2006/relationships/notesMaster" Target="/ppt/notesMasters/notesMaster1.xml" Id="R2ab663714a5b483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09193823ff4d7b" /><Relationship Type="http://schemas.openxmlformats.org/officeDocument/2006/relationships/notesMaster" Target="/ppt/notesMasters/notesMaster1.xml" Id="Rbeedce46676c4aa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3be997fbb934fa6" /><Relationship Type="http://schemas.openxmlformats.org/officeDocument/2006/relationships/notesMaster" Target="/ppt/notesMasters/notesMaster1.xml" Id="R19cff7feda0e40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13e9ecb9a146e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ace5f07a053484a" /><Relationship Type="http://schemas.openxmlformats.org/officeDocument/2006/relationships/slideLayout" Target="/ppt/slideLayouts/slideLayout2.xml" Id="R7b713cee58c14b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713cee58c14b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b2912e2b9d4e9a" /><Relationship Type="http://schemas.openxmlformats.org/officeDocument/2006/relationships/notesSlide" Target="/ppt/notesSlides/notesSlide1.xml" Id="R235938cb2feb46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85e86670df4de3" /><Relationship Type="http://schemas.openxmlformats.org/officeDocument/2006/relationships/notesSlide" Target="/ppt/notesSlides/notesSlide2.xml" Id="Rf9592817221642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b20e9e6ceb4625" /><Relationship Type="http://schemas.openxmlformats.org/officeDocument/2006/relationships/notesSlide" Target="/ppt/notesSlides/notesSlide3.xml" Id="R459e3bef7433481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fb103f137e4c1f" /><Relationship Type="http://schemas.openxmlformats.org/officeDocument/2006/relationships/notesSlide" Target="/ppt/notesSlides/notesSlide4.xml" Id="Rafc9a0aa1ef44f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58865ee74248a6" /><Relationship Type="http://schemas.openxmlformats.org/officeDocument/2006/relationships/notesSlide" Target="/ppt/notesSlides/notesSlide5.xml" Id="R009d9a959f3545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03188b4cb54606" /><Relationship Type="http://schemas.openxmlformats.org/officeDocument/2006/relationships/notesSlide" Target="/ppt/notesSlides/notesSlide6.xml" Id="R386aae3514a842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b41ee0b7e14570" /><Relationship Type="http://schemas.openxmlformats.org/officeDocument/2006/relationships/image" Target="/ppt/media/image.png" Id="Rca4ea654e21c4d81" /><Relationship Type="http://schemas.openxmlformats.org/officeDocument/2006/relationships/image" Target="/ppt/media/image2.png" Id="R8716cd319eb24990" /><Relationship Type="http://schemas.openxmlformats.org/officeDocument/2006/relationships/image" Target="/ppt/media/image3.png" Id="R40b4a10337c24a74" /><Relationship Type="http://schemas.openxmlformats.org/officeDocument/2006/relationships/notesSlide" Target="/ppt/notesSlides/notesSlide7.xml" Id="R7ced6b0090714d7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d6f74460aa44bc" /><Relationship Type="http://schemas.openxmlformats.org/officeDocument/2006/relationships/notesSlide" Target="/ppt/notesSlides/notesSlide8.xml" Id="R34dd79bd7da2436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738d318864456e" /><Relationship Type="http://schemas.openxmlformats.org/officeDocument/2006/relationships/notesSlide" Target="/ppt/notesSlides/notesSlide9.xml" Id="R8fa79dd58a3e498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44A5C7-E174-4A4B-A352-D90C7CE9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32DEE5-963D-41A5-99C1-A2A7BA46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E90D80-7382-4D5F-A9CC-2874DB65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838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7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324003-9B71-40E4-B358-5926B50C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C94C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F2C94C"/>
                </a:solidFill>
                <a:latin typeface="Yu Gothic"/>
                <a:ea typeface="Yu Gothic"/>
                <a:cs typeface="Yu Gothic"/>
              </a:rPr>
              <a:t>3D &amp; MUSIC JAM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FA7340-24F8-4ADE-B8E0-9DAA32EE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6191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4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AIで「好き」を</a:t>
            </a:r>
          </a:p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4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仕事化する提案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F900B6-87B1-4241-90CA-D86A9CC8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590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>
                    <a:alpha val="72000"/>
                  </a:srgbClr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FFFFF">
                    <a:alpha val="72000"/>
                  </a:srgbClr>
                </a:solidFill>
                <a:latin typeface="Yu Gothic"/>
                <a:ea typeface="Yu Gothic"/>
                <a:cs typeface="Yu Gothic"/>
              </a:rPr>
              <a:t>スライド / 広告バナー / LPを、利用者の創作活動と見学導線につなげる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EBEBF0-F08E-4A2C-A2F0-EF3F4E0B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7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7BEA9C-02B3-45CE-A8B7-30A453FD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9580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提案パッケージ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514F37-54D3-4EA5-8F4E-66D179EB3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9580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>
                    <a:alpha val="62000"/>
                  </a:srgbClr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FFFFFF">
                    <a:alpha val="62000"/>
                  </a:srgbClr>
                </a:solidFill>
                <a:latin typeface="Yu Gothic"/>
                <a:ea typeface="Yu Gothic"/>
                <a:cs typeface="Yu Gothic"/>
              </a:rPr>
              <a:t>2026.05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86ABCB-CD4C-4ECA-8FA5-11E5D172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666750"/>
            <a:ext cx="3714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36008C-1C4D-4436-A3AF-05D5FFEC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990600"/>
            <a:ext cx="1581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B667B1-2440-4699-84D6-D49957B4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581150"/>
            <a:ext cx="2762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9A5396-51E5-4BC9-8A20-85E7A5C2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924050"/>
            <a:ext cx="2190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AEF6D3-773B-4071-8188-8B852081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457450"/>
            <a:ext cx="1181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7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6547E0-AEFA-439A-BBF5-55327408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33450"/>
            <a:ext cx="723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59B043-D6F3-4F90-8C9C-99754086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1813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>
                    <a:alpha val="55000"/>
                  </a:srgbClr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FFFFFF">
                    <a:alpha val="55000"/>
                  </a:srgbClr>
                </a:solidFill>
                <a:latin typeface="Yu Gothic"/>
                <a:ea typeface="Yu Gothic"/>
                <a:cs typeface="Yu Gothic"/>
              </a:rPr>
              <a:t>LP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3186E3-DA90-4A60-A1C4-5CBCC4D4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43300"/>
            <a:ext cx="23812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ABEBBC-225D-41C2-8626-44663C481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29050"/>
            <a:ext cx="781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7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E46C31-B3D3-4D06-A875-62900E290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210050"/>
            <a:ext cx="1562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51922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151922"/>
                </a:solidFill>
                <a:latin typeface="Yu Gothic"/>
                <a:ea typeface="Yu Gothic"/>
                <a:cs typeface="Yu Gothic"/>
              </a:rPr>
              <a:t>AIで</a:t>
            </a:r>
          </a:p>
          <a:p xmlns:a="http://schemas.openxmlformats.org/drawingml/2006/main">
            <a:pPr algn="l">
              <a:defRPr sz="2400" b="1">
                <a:solidFill>
                  <a:srgbClr val="151922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151922"/>
                </a:solidFill>
                <a:latin typeface="Yu Gothic"/>
                <a:ea typeface="Yu Gothic"/>
                <a:cs typeface="Yu Gothic"/>
              </a:rPr>
              <a:t>作品づくり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34CDB0-B79D-48DD-AC3F-5F79045E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4102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>
                    <a:alpha val="55000"/>
                  </a:srgbClr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FFFFFF">
                    <a:alpha val="55000"/>
                  </a:srgbClr>
                </a:solidFill>
                <a:latin typeface="Yu Gothic"/>
                <a:ea typeface="Yu Gothic"/>
                <a:cs typeface="Yu Gothic"/>
              </a:rPr>
              <a:t>Banner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6574F5-F0BD-45B8-BCAC-D46A7D7A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543300"/>
            <a:ext cx="18669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735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A33F1E-8C9B-4EC1-A83D-A1401A8F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8290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B24A6C-C2A2-4A0D-9C03-C7FDE813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8290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7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8E6B68-97BD-4C0A-836E-D5296264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8290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7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617717-B7DF-407F-9A18-247FAD62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4102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>
                    <a:alpha val="55000"/>
                  </a:srgbClr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FFFFFF">
                    <a:alpha val="55000"/>
                  </a:srgbClr>
                </a:solidFill>
                <a:latin typeface="Yu Gothic"/>
                <a:ea typeface="Yu Gothic"/>
                <a:cs typeface="Yu Gothic"/>
              </a:rPr>
              <a:t>Deck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0829A0-2418-4342-849A-9972DBDB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236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B0E7A2-C173-4AF8-9F95-058B7DF7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AI体験会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EBBC24-FEF5-42CD-A93E-AA5871F3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>
                    <a:alpha val="56000"/>
                  </a:srgbClr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FFFFFF">
                    <a:alpha val="56000"/>
                  </a:srgbClr>
                </a:solidFill>
                <a:latin typeface="Yu Gothic"/>
                <a:ea typeface="Yu Gothic"/>
                <a:cs typeface="Yu Gothic"/>
              </a:rPr>
              <a:t>見学理由を作る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F675E8-F3B4-4F23-A2C9-793A7013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753100"/>
            <a:ext cx="236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1B6CCF-412E-409D-9B9D-6B196B8A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9245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LP刷新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A372F8-831C-4E39-81C1-040B7954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621030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>
                    <a:alpha val="56000"/>
                  </a:srgbClr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FFFFFF">
                    <a:alpha val="56000"/>
                  </a:srgbClr>
                </a:solidFill>
                <a:latin typeface="Yu Gothic"/>
                <a:ea typeface="Yu Gothic"/>
                <a:cs typeface="Yu Gothic"/>
              </a:rPr>
              <a:t>不安を予約に変える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69B27A-14F3-48A1-934A-37F61301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753100"/>
            <a:ext cx="236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999F94-C78F-4A25-8358-27DEC735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9245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広告3種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735D03-3A66-41DB-8FB6-101B3A76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21030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>
                    <a:alpha val="56000"/>
                  </a:srgbClr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FFFFFF">
                    <a:alpha val="56000"/>
                  </a:srgbClr>
                </a:solidFill>
                <a:latin typeface="Yu Gothic"/>
                <a:ea typeface="Yu Gothic"/>
                <a:cs typeface="Yu Gothic"/>
              </a:rPr>
              <a:t>訴求角度を分ける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D2E71B-DBF6-4765-96CC-3CE71217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753100"/>
            <a:ext cx="236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DF79A6-88BC-4213-A480-3D28A572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9245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30日初動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30F0975-F32E-44A6-A756-7EFA3053A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21030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>
                    <a:alpha val="56000"/>
                  </a:srgbClr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FFFFFF">
                    <a:alpha val="56000"/>
                  </a:srgbClr>
                </a:solidFill>
                <a:latin typeface="Yu Gothic"/>
                <a:ea typeface="Yu Gothic"/>
                <a:cs typeface="Yu Gothic"/>
              </a:rPr>
              <a:t>まず公開して測る</a:t>
            </a:r>
          </a:p>
        </p:txBody>
      </p:sp>
    </p:spTree>
    <p:extLst>
      <p:ext uri="{BB962C8B-B14F-4D97-AF65-F5344CB8AC3E}">
        <p14:creationId xmlns:p14="http://schemas.microsoft.com/office/powerpoint/2010/main" val="138123206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B8AD5C-1A4D-44E5-A9CB-C1C9FB52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57D92632-AECE-45CD-A824-02BE7BDAA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323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EDBBF3FF-B0BF-4D3B-B6FF-7B177B5A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72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878D9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5878D9"/>
                </a:solidFill>
                <a:latin typeface="Yu Gothic"/>
                <a:ea typeface="Yu Gothic"/>
                <a:cs typeface="Yu Gothic"/>
              </a:rPr>
              <a:t>CURRENT SITE DIAGNOSIS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EFFE01-0B14-4A51-8359-78FCE60F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09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51922"/>
                </a:solidFill>
                <a:latin typeface="Yu Gothic"/>
                <a:ea typeface="Yu Gothic"/>
                <a:cs typeface="Yu Gothic"/>
              </a:defRPr>
            </a:pPr>
            <a:r>
              <a:rPr sz="2925" b="1">
                <a:solidFill>
                  <a:srgbClr val="151922"/>
                </a:solidFill>
                <a:latin typeface="Yu Gothic"/>
                <a:ea typeface="Yu Gothic"/>
                <a:cs typeface="Yu Gothic"/>
              </a:rPr>
              <a:t>現行サイトの強みは十分。足りないのは、AI体験から予約までの一本線。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4D9CF2-AE6E-464B-A66F-EB144563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1922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51922"/>
                </a:solidFill>
                <a:latin typeface="Yu Gothic"/>
                <a:ea typeface="Yu Gothic"/>
                <a:cs typeface="Yu Gothic"/>
              </a:rPr>
              <a:t>現行LPで既に伝わっていること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0C84DB-B618-40BD-AED3-73D63850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90800"/>
            <a:ext cx="4171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1922">
                <a:alpha val="1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E7BAB2-5083-4F74-9486-A25B13EB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90800"/>
            <a:ext cx="7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7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D8A6E9-4F02-423B-9D23-CB9A5BC3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0350"/>
            <a:ext cx="3752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922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51922"/>
                </a:solidFill>
                <a:latin typeface="Yu Gothic"/>
                <a:ea typeface="Yu Gothic"/>
                <a:cs typeface="Yu Gothic"/>
              </a:rPr>
              <a:t>クリエイティブ特化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7110DC-C4D5-41A9-B548-75AD7722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43250"/>
            <a:ext cx="3752850" cy="-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80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57080"/>
                </a:solidFill>
                <a:latin typeface="Yu Gothic"/>
                <a:ea typeface="Yu Gothic"/>
                <a:cs typeface="Yu Gothic"/>
              </a:rPr>
              <a:t>MV / 3D / イラスト / IT / Vtuber など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F57DC4-9DAA-4F90-B996-0E8B36EF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4171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1922">
                <a:alpha val="12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270D98-5DFD-4DC7-AF18-F6D34A36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7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911DF4-3FA9-4BCE-B35D-16F94C8B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81400"/>
            <a:ext cx="3752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922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51922"/>
                </a:solidFill>
                <a:latin typeface="Yu Gothic"/>
                <a:ea typeface="Yu Gothic"/>
                <a:cs typeface="Yu Gothic"/>
              </a:rPr>
              <a:t>未経験からの成長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568CC6-714F-4719-B79F-1726DC4E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24300"/>
            <a:ext cx="3752850" cy="-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80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57080"/>
                </a:solidFill>
                <a:latin typeface="Yu Gothic"/>
                <a:ea typeface="Yu Gothic"/>
                <a:cs typeface="Yu Gothic"/>
              </a:rPr>
              <a:t>90%が初心者からクリエイター化と掲載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EB4D58-2800-4193-B1E9-92A5D1AB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52900"/>
            <a:ext cx="4171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1922">
                <a:alpha val="12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6D1722-B00A-4465-AF56-188DFF8C1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52900"/>
            <a:ext cx="7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38724B-0057-40E7-AEC6-2F66ECF87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62450"/>
            <a:ext cx="3752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922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51922"/>
                </a:solidFill>
                <a:latin typeface="Yu Gothic"/>
                <a:ea typeface="Yu Gothic"/>
                <a:cs typeface="Yu Gothic"/>
              </a:rPr>
              <a:t>利用者作品の証明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0BB6F3-96C5-467C-BE82-72EA9105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05350"/>
            <a:ext cx="3752850" cy="-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80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57080"/>
                </a:solidFill>
                <a:latin typeface="Yu Gothic"/>
                <a:ea typeface="Yu Gothic"/>
                <a:cs typeface="Yu Gothic"/>
              </a:rPr>
              <a:t>ページ内イラストは利用者制作と掲載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7572C4-7DD5-4CEE-A4D9-99674744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33950"/>
            <a:ext cx="4171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1922">
                <a:alpha val="12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1693CC-E29D-44E6-85AC-9027A41A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33950"/>
            <a:ext cx="7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7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81802D-FEF5-4CEC-965D-F31D6FA4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43500"/>
            <a:ext cx="3752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922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51922"/>
                </a:solidFill>
                <a:latin typeface="Yu Gothic"/>
                <a:ea typeface="Yu Gothic"/>
                <a:cs typeface="Yu Gothic"/>
              </a:rPr>
              <a:t>心理面の支援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3ADA31-90EF-4C68-8FF4-63F9B01C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86400"/>
            <a:ext cx="3752850" cy="-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80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57080"/>
                </a:solidFill>
                <a:latin typeface="Yu Gothic"/>
                <a:ea typeface="Yu Gothic"/>
                <a:cs typeface="Yu Gothic"/>
              </a:rPr>
              <a:t>公認心理師など相談体制を明記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7DC4EB-58D7-43DE-8717-81B1ADFC7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1526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1922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51922"/>
                </a:solidFill>
                <a:latin typeface="Yu Gothic"/>
                <a:ea typeface="Yu Gothic"/>
                <a:cs typeface="Yu Gothic"/>
              </a:rPr>
              <a:t>新LPで補うべき転換点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8B6AEE-A8EF-4BF7-9D7A-240DEC71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628900"/>
            <a:ext cx="685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7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4B0D79-C1A8-4269-AAE1-A01E64AF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241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DDF299-B7E2-4058-9AA5-FC2E70910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6289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922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51922"/>
                </a:solidFill>
                <a:latin typeface="Yu Gothic"/>
                <a:ea typeface="Yu Gothic"/>
                <a:cs typeface="Yu Gothic"/>
              </a:rPr>
              <a:t>AI体験会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1BA9C4-FBF1-49DB-B060-0314C675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3370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80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57080"/>
                </a:solidFill>
                <a:latin typeface="Yu Gothic"/>
                <a:ea typeface="Yu Gothic"/>
                <a:cs typeface="Yu Gothic"/>
              </a:rPr>
              <a:t>最初の来所理由を一言で提示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579D32-1C62-46CE-917E-9A7DF39A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62300"/>
            <a:ext cx="95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>
              <a:alpha val="2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32D6A2-143F-4361-B5EC-0DAC5B998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409950"/>
            <a:ext cx="685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787549-5C5B-4280-A73F-2CB5216A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05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E68397-923A-4E01-9AA2-B161AE50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099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922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51922"/>
                </a:solidFill>
                <a:latin typeface="Yu Gothic"/>
                <a:ea typeface="Yu Gothic"/>
                <a:cs typeface="Yu Gothic"/>
              </a:rPr>
              <a:t>制作の安心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A45BB2-75AE-4A7C-BD71-57C46F95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71475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80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57080"/>
                </a:solidFill>
                <a:latin typeface="Yu Gothic"/>
                <a:ea typeface="Yu Gothic"/>
                <a:cs typeface="Yu Gothic"/>
              </a:rPr>
              <a:t>AIの使い方、権利確認、スタッフレビューを明確化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654B03-8316-4BED-9804-094D8463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43350"/>
            <a:ext cx="95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>
              <a:alpha val="2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5ED69C-1A9C-4E1C-BE1E-B8C59F75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191000"/>
            <a:ext cx="685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3D3633-F50B-4AB3-A8D3-34E8E542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66CE70-76AB-4F52-9F7C-FAF1AFFD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1910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922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51922"/>
                </a:solidFill>
                <a:latin typeface="Yu Gothic"/>
                <a:ea typeface="Yu Gothic"/>
                <a:cs typeface="Yu Gothic"/>
              </a:rPr>
              <a:t>作品化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5E3214E-2D3E-48C2-94E2-EEC0F271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49580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80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57080"/>
                </a:solidFill>
                <a:latin typeface="Yu Gothic"/>
                <a:ea typeface="Yu Gothic"/>
                <a:cs typeface="Yu Gothic"/>
              </a:rPr>
              <a:t>見学者が自分の成果を想像できる導線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6B9CF85-4C9A-41C7-8D0F-04CF8FFD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24400"/>
            <a:ext cx="95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>
              <a:alpha val="2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D740A60-37AA-41F4-9A8F-E458B4BF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972050"/>
            <a:ext cx="685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3ECD19F-18BF-453A-93EB-04F099A9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673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69F8FFC-F44F-4767-855A-04B95DD9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720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922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51922"/>
                </a:solidFill>
                <a:latin typeface="Yu Gothic"/>
                <a:ea typeface="Yu Gothic"/>
                <a:cs typeface="Yu Gothic"/>
              </a:rPr>
              <a:t>予約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E42EC05-1F58-444F-B8A7-8DD2920C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27685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80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57080"/>
                </a:solidFill>
                <a:latin typeface="Yu Gothic"/>
                <a:ea typeface="Yu Gothic"/>
                <a:cs typeface="Yu Gothic"/>
              </a:rPr>
              <a:t>各セクションから同じCTAに戻す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164C5E5-59D1-4781-862D-EA86F1FC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47950"/>
            <a:ext cx="66675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7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351F4B2-2E17-497A-8433-B6ACB440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562350"/>
            <a:ext cx="381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1922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51922"/>
                </a:solidFill>
                <a:latin typeface="Yu Gothic"/>
                <a:ea typeface="Yu Gothic"/>
                <a:cs typeface="Yu Gothic"/>
              </a:rPr>
              <a:t>予約導線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45E68EE-6E69-47EC-96AC-1E8D08D3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91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>
              <a:alpha val="1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2F67466-CEEB-4EB2-9963-7D2B6E4E0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22935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51922">
                    <a:alpha val="52000"/>
                  </a:srgbClr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151922">
                    <a:alpha val="52000"/>
                  </a:srgbClr>
                </a:solidFill>
                <a:latin typeface="Yu Gothic"/>
                <a:ea typeface="Yu Gothic"/>
                <a:cs typeface="Yu Gothic"/>
              </a:rPr>
              <a:t>Source: musicjam.jp current site content; proposal diagnosis by Codex.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43B37FF-7874-4103-8AE1-05D56D44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7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51922">
                    <a:alpha val="58000"/>
                  </a:srgbClr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151922">
                    <a:alpha val="58000"/>
                  </a:srgbClr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4104615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7870BB-8CDA-4EEE-8D7B-4C6AE2A0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3015909A-CB2A-434C-96C4-5B197F2A2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323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7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39327F01-EFEC-4C04-9EC0-A92E56BE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72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C79A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55C79A"/>
                </a:solidFill>
                <a:latin typeface="Yu Gothic"/>
                <a:ea typeface="Yu Gothic"/>
                <a:cs typeface="Yu Gothic"/>
              </a:rPr>
              <a:t>WHY NOW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2B224D-05A4-4C29-8358-978FD9B7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09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AI導入の論点は効率化ではなく、活動一つあたりの制作価値を上げること。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58343C-05D6-48F3-A48A-38F400DD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2291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00"/>
            </a:srgbClr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04B02A-8FA1-4275-83C9-DAB50BD82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479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C94C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2C94C"/>
                </a:solidFill>
                <a:latin typeface="Yu Gothic"/>
                <a:ea typeface="Yu Gothic"/>
                <a:cs typeface="Yu Gothic"/>
              </a:rPr>
              <a:t>令和6年度 B型平均工賃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A17A2A-67F1-4FB9-83C6-AE33794A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81350"/>
            <a:ext cx="304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43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24,141円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392347-B1E3-4413-B4B0-7DFAD5A5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624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>
                    <a:alpha val="62000"/>
                  </a:srgbClr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FFFFFF">
                    <a:alpha val="62000"/>
                  </a:srgbClr>
                </a:solidFill>
                <a:latin typeface="Yu Gothic"/>
                <a:ea typeface="Yu Gothic"/>
                <a:cs typeface="Yu Gothic"/>
              </a:rPr>
              <a:t>月額平均 / 厚生労働省公表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8C1EEF-F4C3-4A30-9B02-701FB3A7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386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1BDC9E-0C9C-4751-8188-6EFD2D3D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438650"/>
            <a:ext cx="2305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6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6E1894-6531-4E68-8CF3-545F92D6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8155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>
                    <a:alpha val="62000"/>
                  </a:srgbClr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FFFFFF">
                    <a:alpha val="62000"/>
                  </a:srgbClr>
                </a:solidFill>
                <a:latin typeface="Yu Gothic"/>
                <a:ea typeface="Yu Gothic"/>
                <a:cs typeface="Yu Gothic"/>
              </a:rPr>
              <a:t>18,245 B型事業所が報告対象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26EE8B-D71F-41A5-AB34-78043FCC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34315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提案の置き方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652B79-C5BE-4ACF-884C-CB4C33A7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819400"/>
            <a:ext cx="4324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F9EBA2-3FE4-4761-8AE1-A011EC0F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9337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1922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151922"/>
                </a:solidFill>
                <a:latin typeface="Yu Gothic"/>
                <a:ea typeface="Yu Gothic"/>
                <a:cs typeface="Yu Gothic"/>
              </a:rPr>
              <a:t>Before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9D62C6-A4EC-49A1-8828-D379B980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3370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922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51922"/>
                </a:solidFill>
                <a:latin typeface="Yu Gothic"/>
                <a:ea typeface="Yu Gothic"/>
                <a:cs typeface="Yu Gothic"/>
              </a:rPr>
              <a:t>好きな制作に取り組む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D418B6-0902-408A-BAF6-997955F0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448050"/>
            <a:ext cx="9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AF6B7C-62AE-48B1-ACEF-BCD2BEA9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676650"/>
            <a:ext cx="4324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7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5FC9EB-D776-4FAC-A7B6-4B0B4267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7909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1922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151922"/>
                </a:solidFill>
                <a:latin typeface="Yu Gothic"/>
                <a:ea typeface="Yu Gothic"/>
                <a:cs typeface="Yu Gothic"/>
              </a:rPr>
              <a:t>With 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4F1E51-A9F2-4153-82D0-F8C6CAD3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909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922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51922"/>
                </a:solidFill>
                <a:latin typeface="Yu Gothic"/>
                <a:ea typeface="Yu Gothic"/>
                <a:cs typeface="Yu Gothic"/>
              </a:rPr>
              <a:t>小さな成果物へ早く形にする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F88879-4398-4526-84F6-C4CCDFAA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05300"/>
            <a:ext cx="9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9418FD-57AE-432F-99B6-058E1018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533900"/>
            <a:ext cx="4324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7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3C43C4-7D32-48DB-A4AC-127D065E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6482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After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8EC116-A17A-4E17-9D6C-32F96883F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4820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LP・広告・動画企画として見せる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15FC0E-C078-4F08-94ED-58A0F4D0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581650"/>
            <a:ext cx="495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>
                    <a:alpha val="72000"/>
                  </a:srgbClr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FFFFF">
                    <a:alpha val="72000"/>
                  </a:srgbClr>
                </a:solidFill>
                <a:latin typeface="Yu Gothic"/>
                <a:ea typeface="Yu Gothic"/>
                <a:cs typeface="Yu Gothic"/>
              </a:rPr>
              <a:t>収入増を約束する話ではなく、支援と制作物の見せ方を強くする話として設計する。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C72694-843A-4445-9F58-93E0BDA6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91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48CA46-6D13-4EE3-AB13-C685D3BD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22935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FFFFF">
                    <a:alpha val="56000"/>
                  </a:srgbClr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FFFFFF">
                    <a:alpha val="56000"/>
                  </a:srgbClr>
                </a:solidFill>
                <a:latin typeface="Yu Gothic"/>
                <a:ea typeface="Yu Gothic"/>
                <a:cs typeface="Yu Gothic"/>
              </a:rPr>
              <a:t>Source: MHLW Reiwa 6 average wage results; musicjam.jp current positioning.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B7F7E8-0165-4829-A747-A861515C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7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>
                    <a:alpha val="66000"/>
                  </a:srgbClr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FFFFFF">
                    <a:alpha val="66000"/>
                  </a:srgbClr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931827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5976AD-FE62-4FCA-B968-6BBD5523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F1CA7F76-FB16-4906-82FC-3CF37313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323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55D6144F-D0B5-4582-A930-03AC915D3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72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878D9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5878D9"/>
                </a:solidFill>
                <a:latin typeface="Yu Gothic"/>
                <a:ea typeface="Yu Gothic"/>
                <a:cs typeface="Yu Gothic"/>
              </a:rPr>
              <a:t>AI ACTIVITY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9BF2C8-55C0-42F0-80E9-8F924EA9F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09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1922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51922"/>
                </a:solidFill>
                <a:latin typeface="Yu Gothic"/>
                <a:ea typeface="Yu Gothic"/>
                <a:cs typeface="Yu Gothic"/>
              </a:rPr>
              <a:t>役割を分けると、AI体験は「作業」ではなく制作メニューになる。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CC8921-495A-48B0-9452-B3BE2A3E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922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51922"/>
                </a:solidFill>
                <a:latin typeface="Yu Gothic"/>
                <a:ea typeface="Yu Gothic"/>
                <a:cs typeface="Yu Gothic"/>
              </a:rPr>
              <a:t>利用者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7F2384-A9E5-4261-8099-E6C6FC3B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95500"/>
            <a:ext cx="1676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1922">
                <a:alpha val="1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D05833-674A-4257-9BD7-45334947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95500"/>
            <a:ext cx="1676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7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8EAD89-7BE9-421D-8696-65238BF5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0505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1922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151922"/>
                </a:solidFill>
                <a:latin typeface="Yu Gothic"/>
                <a:ea typeface="Yu Gothic"/>
                <a:cs typeface="Yu Gothic"/>
              </a:rPr>
              <a:t>好きなテーマ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E61CCC-5C98-4B04-88C5-E8811E030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622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>
              <a:alpha val="26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83BD30-3D8A-4E62-B6FA-EDA99F21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95500"/>
            <a:ext cx="1676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1922">
                <a:alpha val="12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7663E4-E04C-4E36-AC19-023B3D01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95500"/>
            <a:ext cx="1676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7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4A7172-6B58-4FB0-944B-0308E363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30505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1922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151922"/>
                </a:solidFill>
                <a:latin typeface="Yu Gothic"/>
                <a:ea typeface="Yu Gothic"/>
                <a:cs typeface="Yu Gothic"/>
              </a:rPr>
              <a:t>ラフを選ぶ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87DFA5-209F-4C19-9037-1D83B4F6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622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>
              <a:alpha val="26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F521AB-5D3C-4898-8D0A-A30DAD92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95500"/>
            <a:ext cx="1676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1922">
                <a:alpha val="12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1C9C1A-897F-4C5D-84CB-848F0A52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95500"/>
            <a:ext cx="1676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7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D17452-F957-45DA-AE88-5325437CD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0505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1922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151922"/>
                </a:solidFill>
                <a:latin typeface="Yu Gothic"/>
                <a:ea typeface="Yu Gothic"/>
                <a:cs typeface="Yu Gothic"/>
              </a:rPr>
              <a:t>修正して説明する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E87223-F8B1-47FA-B33E-60841226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622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>
              <a:alpha val="26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440DB9-4833-4DFD-90AF-1B179D51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095500"/>
            <a:ext cx="1676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1922">
                <a:alpha val="12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03F193-989B-4792-9F43-EF820F7B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095500"/>
            <a:ext cx="1676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7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D331DC-DC83-4655-A50F-BA1AAB89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0505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1922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151922"/>
                </a:solidFill>
                <a:latin typeface="Yu Gothic"/>
                <a:ea typeface="Yu Gothic"/>
                <a:cs typeface="Yu Gothic"/>
              </a:rPr>
              <a:t>作品として残す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E727E8-1FD9-461D-8954-5455B24D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922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51922"/>
                </a:solidFill>
                <a:latin typeface="Yu Gothic"/>
                <a:ea typeface="Yu Gothic"/>
                <a:cs typeface="Yu Gothic"/>
              </a:rPr>
              <a:t>AI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306D72-9C2F-4D37-93AD-C6DFBFE2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71800"/>
            <a:ext cx="1676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1922">
                <a:alpha val="12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0E2E5B-4F17-4DC3-B99A-68A8A77C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71800"/>
            <a:ext cx="1676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12C7E6-58B8-4B27-B245-AAA3BFA7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18135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1922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151922"/>
                </a:solidFill>
                <a:latin typeface="Yu Gothic"/>
                <a:ea typeface="Yu Gothic"/>
                <a:cs typeface="Yu Gothic"/>
              </a:rPr>
              <a:t>案を広げる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D92441-DCE9-4454-96FE-69D518571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2385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>
              <a:alpha val="26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95D519-9C29-4508-B336-E9B16A00C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971800"/>
            <a:ext cx="1676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1922">
                <a:alpha val="1200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72ABD0-C801-4D1F-8F42-19A632E4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971800"/>
            <a:ext cx="1676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B4D459-09C5-4291-A75C-F79112CD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18135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1922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151922"/>
                </a:solidFill>
                <a:latin typeface="Yu Gothic"/>
                <a:ea typeface="Yu Gothic"/>
                <a:cs typeface="Yu Gothic"/>
              </a:rPr>
              <a:t>初稿を作る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08DDB9-C697-4426-A737-A9BCF996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385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>
              <a:alpha val="26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CFF5D5-84D2-48B6-92EC-660A4461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71800"/>
            <a:ext cx="1676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1922">
                <a:alpha val="1200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B39397-021C-4AD4-A122-55C463A8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71800"/>
            <a:ext cx="1676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A2D230-01CC-4FC6-8E35-C9BEA0A5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8135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1922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151922"/>
                </a:solidFill>
                <a:latin typeface="Yu Gothic"/>
                <a:ea typeface="Yu Gothic"/>
                <a:cs typeface="Yu Gothic"/>
              </a:rPr>
              <a:t>別案を出す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147D0E-10F9-4815-9CBD-5C83E307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385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>
              <a:alpha val="26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BA5C027-8A5B-43F1-B223-C2A92981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71800"/>
            <a:ext cx="1676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1922">
                <a:alpha val="1200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68B936-0785-4370-85E0-5A86FFF0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71800"/>
            <a:ext cx="1676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9E2457-1E98-44B1-8F97-1C9DC6FF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8135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1922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151922"/>
                </a:solidFill>
                <a:latin typeface="Yu Gothic"/>
                <a:ea typeface="Yu Gothic"/>
                <a:cs typeface="Yu Gothic"/>
              </a:rPr>
              <a:t>素材化する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B537329-17CB-477E-93EE-3F6843A3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922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51922"/>
                </a:solidFill>
                <a:latin typeface="Yu Gothic"/>
                <a:ea typeface="Yu Gothic"/>
                <a:cs typeface="Yu Gothic"/>
              </a:rPr>
              <a:t>スタッフ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174BE40-CBBA-440E-BC9A-70EF5CB9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48100"/>
            <a:ext cx="1676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1922">
                <a:alpha val="1200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BE05890-51AB-4486-AED3-B89C3B78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48100"/>
            <a:ext cx="1676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297E014-2160-436B-9349-74E9AFED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05765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1922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151922"/>
                </a:solidFill>
                <a:latin typeface="Yu Gothic"/>
                <a:ea typeface="Yu Gothic"/>
                <a:cs typeface="Yu Gothic"/>
              </a:rPr>
              <a:t>聞き取り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935B762-79EB-48CD-A5A3-5DCE88F6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1148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>
              <a:alpha val="26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995D175-F3A6-47C6-A015-8C56C30A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48100"/>
            <a:ext cx="1676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1922">
                <a:alpha val="1200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59A5A68-D9FC-4CCE-ACB8-247DF3EEF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48100"/>
            <a:ext cx="1676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85A54BD-08CB-492C-BDBB-B4D07254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05765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1922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151922"/>
                </a:solidFill>
                <a:latin typeface="Yu Gothic"/>
                <a:ea typeface="Yu Gothic"/>
                <a:cs typeface="Yu Gothic"/>
              </a:rPr>
              <a:t>安全確認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7030137-96F1-4B82-A73B-91E4E911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148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>
              <a:alpha val="26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B0F6273-9566-4E64-A726-CD8ACC13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48100"/>
            <a:ext cx="1676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1922">
                <a:alpha val="1200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4C4CEBE-7050-429B-85F4-42949C06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48100"/>
            <a:ext cx="1676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131FEB8-495D-4B5C-B08C-72849896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5765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1922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151922"/>
                </a:solidFill>
                <a:latin typeface="Yu Gothic"/>
                <a:ea typeface="Yu Gothic"/>
                <a:cs typeface="Yu Gothic"/>
              </a:rPr>
              <a:t>権利・表現確認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8A11547-A328-4C3B-A35B-9BDDBC9E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148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>
              <a:alpha val="26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FA70B0D-1F25-4187-BF23-7948617F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848100"/>
            <a:ext cx="1676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1922">
                <a:alpha val="1200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21900C7-6A7E-47FE-A2A3-5B0F98B7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848100"/>
            <a:ext cx="1676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C7760F3-EB42-47B0-A508-932C2547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5765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1922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151922"/>
                </a:solidFill>
                <a:latin typeface="Yu Gothic"/>
                <a:ea typeface="Yu Gothic"/>
                <a:cs typeface="Yu Gothic"/>
              </a:rPr>
              <a:t>ポートフォリオ化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0235A0D-E49B-4578-870B-B0C3E39B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922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51922"/>
                </a:solidFill>
                <a:latin typeface="Yu Gothic"/>
                <a:ea typeface="Yu Gothic"/>
                <a:cs typeface="Yu Gothic"/>
              </a:rPr>
              <a:t>外部に見せる成果物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B07C0E3-C222-4A5D-9F2B-0FD5775E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24400"/>
            <a:ext cx="1676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7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20EAD89-E99A-456C-BDF6-19B5B4501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24400"/>
            <a:ext cx="1676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7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954334F-FF37-4749-89E9-1111C140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93395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イラスト案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EC7F9CA-BD8B-4AD6-AF2D-E80A22F80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9911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>
              <a:alpha val="26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5B7F97D-67ED-4847-8449-68850BD0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724400"/>
            <a:ext cx="1676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7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899EB0C-8F32-42D0-B132-72035753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724400"/>
            <a:ext cx="1676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7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DDDA438-9CFB-4BE2-80F0-C46C2B5B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93395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MV絵コンテ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65DA291-4D56-4408-BAFF-6D591D40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9911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>
              <a:alpha val="26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6776D75-224F-4C92-9867-8DC6205C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24400"/>
            <a:ext cx="1676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7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81CD786-419B-47EA-9872-742D6B1E5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24400"/>
            <a:ext cx="1676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7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38A733C-B579-4765-8454-0BF809F1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93395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LP原稿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10B58E2-E6F3-4533-9F06-A5287FE9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9911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>
              <a:alpha val="26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8246BFB-6FA6-4283-8C90-EF4BA820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724400"/>
            <a:ext cx="1676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7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68C11A5-043E-4F94-8CCA-04B634AB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724400"/>
            <a:ext cx="1676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7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A833CA1-6B27-4CB0-B9F2-861FA353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3395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広告バナー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64C2A41-DBA6-40EC-AC81-0CE01C8A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572125"/>
            <a:ext cx="1695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A04FC3B-4B0E-4EB9-B7E8-8D7CB4A8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676900"/>
            <a:ext cx="1314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見学・受注の材料にする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23BB96D-C6DD-45B7-B0ED-CDFA3E8B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91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>
              <a:alpha val="1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5E4897C-608C-4782-9655-D6DF599E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22935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51922">
                    <a:alpha val="52000"/>
                  </a:srgbClr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151922">
                    <a:alpha val="52000"/>
                  </a:srgbClr>
                </a:solidFill>
                <a:latin typeface="Yu Gothic"/>
                <a:ea typeface="Yu Gothic"/>
                <a:cs typeface="Yu Gothic"/>
              </a:rPr>
              <a:t>Source: Proposal workflow synthesized from current creative curriculum and support claims.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C707117-7DA7-4CB5-8A6B-C6DB5595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7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51922">
                    <a:alpha val="58000"/>
                  </a:srgbClr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151922">
                    <a:alpha val="58000"/>
                  </a:srgbClr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5861046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E68C4E-1975-4037-A0CD-A0A9B840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5-marker">
            <a:extLst xmlns:a="http://schemas.openxmlformats.org/drawingml/2006/main">
              <a:ext uri="{FF2B5EF4-FFF2-40B4-BE49-F238E27FC236}">
                <a16:creationId xmlns:a16="http://schemas.microsoft.com/office/drawing/2014/main" id="{C57D9346-5D8F-48E7-A4F7-4D60F475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323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7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5-label">
            <a:extLst xmlns:a="http://schemas.openxmlformats.org/drawingml/2006/main">
              <a:ext uri="{FF2B5EF4-FFF2-40B4-BE49-F238E27FC236}">
                <a16:creationId xmlns:a16="http://schemas.microsoft.com/office/drawing/2014/main" id="{3C453809-45FC-457C-A00F-A56F7A5E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72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C79A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55C79A"/>
                </a:solidFill>
                <a:latin typeface="Yu Gothic"/>
                <a:ea typeface="Yu Gothic"/>
                <a:cs typeface="Yu Gothic"/>
              </a:rPr>
              <a:t>SAFETY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3F3277-CF9D-4354-86F6-E2A84083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09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AIを任せきりにしない。人が確認する前提だから、福祉支援と両立する。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C0AF5E-738E-43EF-AF3B-90BC210F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1333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7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94AC5C-E14F-4D1F-8035-6D689202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0"/>
            <a:ext cx="304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1922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51922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A1CAFF-40D6-4111-8827-14B35640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05150"/>
            <a:ext cx="95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1922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51922"/>
                </a:solidFill>
                <a:latin typeface="Yu Gothic"/>
                <a:ea typeface="Yu Gothic"/>
                <a:cs typeface="Yu Gothic"/>
              </a:rPr>
              <a:t>個人情報を</a:t>
            </a:r>
          </a:p>
          <a:p xmlns:a="http://schemas.openxmlformats.org/drawingml/2006/main">
            <a:pPr algn="ctr">
              <a:defRPr sz="1275" b="1">
                <a:solidFill>
                  <a:srgbClr val="151922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51922"/>
                </a:solidFill>
                <a:latin typeface="Yu Gothic"/>
                <a:ea typeface="Yu Gothic"/>
                <a:cs typeface="Yu Gothic"/>
              </a:rPr>
              <a:t>入れない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A27CEA-4617-45E2-8548-DF854276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2420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5F5ED0-E030-4A16-8D5C-BCC2BA3F3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457450"/>
            <a:ext cx="1333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FD8F13-B72C-40A8-B3B1-C871A589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667000"/>
            <a:ext cx="304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2C94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F2C94C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8AD419-6AFC-418B-A58C-3E44B90AB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05150"/>
            <a:ext cx="95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生成物を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確認する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902614-E4A1-41C9-8ADD-E233C3D5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2420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FB9850-A8C0-4F32-9D2C-57FB4188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57450"/>
            <a:ext cx="1333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5B21D5-3B0B-49A1-B8E9-7918AB57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667000"/>
            <a:ext cx="304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2C94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F2C94C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E403C7-69A7-4291-BB84-96D3ECE4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105150"/>
            <a:ext cx="95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権利と表現を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点検する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793E9A-33C7-4A9E-BA3F-ADD20B53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2420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BAACD5-3442-44EA-B88B-24DE26DC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57450"/>
            <a:ext cx="1333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612657-DC99-4F83-A804-7CFA383C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667000"/>
            <a:ext cx="304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2C94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F2C94C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5FBDD6-0577-43FF-A856-3634E34A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105150"/>
            <a:ext cx="95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本人の体調に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合わせる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D85FA8-5C66-4CBE-A223-EEFEB14F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2420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A7BCF7-4022-413A-9926-2AA0381D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57450"/>
            <a:ext cx="1333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A25AD0-0A6C-48C0-BA69-D0E26008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67000"/>
            <a:ext cx="304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2C94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F2C94C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65D9AB-5CC7-4727-8DF9-AB237970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05150"/>
            <a:ext cx="95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公開範囲を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決める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4C536D-8EFA-4D1D-978A-FC9273E6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5010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79A">
              <a:alpha val="16000"/>
            </a:srgbClr>
          </a:solidFill>
          <a:ln xmlns:a="http://schemas.openxmlformats.org/drawingml/2006/main" w="9525">
            <a:solidFill>
              <a:srgbClr val="55C79A">
                <a:alpha val="32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FF39E9-92D2-4EE4-9115-56038D513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43450"/>
            <a:ext cx="438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現行サイトの「80%の力で継続」を、AI制作の運用原則にする。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32B9C1-AD3A-4480-A7C1-6B684B5F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4767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C94C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F2C94C"/>
                </a:solidFill>
                <a:latin typeface="Yu Gothic"/>
                <a:ea typeface="Yu Gothic"/>
                <a:cs typeface="Yu Gothic"/>
              </a:rPr>
              <a:t>NG管理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7EE361-F81E-4A41-AC45-E1097D11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57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7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3E0B36-71B4-448A-9C54-77BB694B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006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>
                    <a:alpha val="72000"/>
                  </a:srgbClr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FFFFFF">
                    <a:alpha val="72000"/>
                  </a:srgbClr>
                </a:solidFill>
                <a:latin typeface="Yu Gothic"/>
                <a:ea typeface="Yu Gothic"/>
                <a:cs typeface="Yu Gothic"/>
              </a:rPr>
              <a:t>個人名・診断名・連絡先を入力しない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11029F-2806-424F-B0D3-0F780B71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1816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30BCB2-4D86-4FA7-A3F0-86E30FBA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244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>
                    <a:alpha val="72000"/>
                  </a:srgbClr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FFFFFF">
                    <a:alpha val="72000"/>
                  </a:srgbClr>
                </a:solidFill>
                <a:latin typeface="Yu Gothic"/>
                <a:ea typeface="Yu Gothic"/>
                <a:cs typeface="Yu Gothic"/>
              </a:rPr>
              <a:t>既存キャラ・商標に寄せない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622747-CCF4-4FD0-97B2-71D07B7A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505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7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4F6F1D-E6DE-498C-A006-2571E1CC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4483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>
                    <a:alpha val="72000"/>
                  </a:srgbClr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FFFFFF">
                    <a:alpha val="72000"/>
                  </a:srgbClr>
                </a:solidFill>
                <a:latin typeface="Yu Gothic"/>
                <a:ea typeface="Yu Gothic"/>
                <a:cs typeface="Yu Gothic"/>
              </a:rPr>
              <a:t>公開前にスタッフが必ず見る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44CEF5-84AC-4618-B28B-258F5411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829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BD5A31-4CC6-42DB-A87C-871C5F6C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7721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>
                    <a:alpha val="72000"/>
                  </a:srgbClr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FFFFFF">
                    <a:alpha val="72000"/>
                  </a:srgbClr>
                </a:solidFill>
                <a:latin typeface="Yu Gothic"/>
                <a:ea typeface="Yu Gothic"/>
                <a:cs typeface="Yu Gothic"/>
              </a:rPr>
              <a:t>長時間作業を前提にしない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EFBBD63-7ACB-4182-9A0C-080EFD96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91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28A5EB-C682-4049-9691-F8080DE3E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22935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FFFFF">
                    <a:alpha val="56000"/>
                  </a:srgbClr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FFFFFF">
                    <a:alpha val="56000"/>
                  </a:srgbClr>
                </a:solidFill>
                <a:latin typeface="Yu Gothic"/>
                <a:ea typeface="Yu Gothic"/>
                <a:cs typeface="Yu Gothic"/>
              </a:rPr>
              <a:t>Source: musicjam.jp support policy; AI operating guardrails proposed by Codex.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F98133-AAA4-43A9-BD8D-C20763BC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7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>
                    <a:alpha val="66000"/>
                  </a:srgbClr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FFFFFF">
                    <a:alpha val="66000"/>
                  </a:srgbClr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4368858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AE4995-EF2D-42B9-8F92-8506683E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4482C7D8-08C5-444F-A5DF-005C00AB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323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1C4ABE7C-97B2-45B9-984D-7FFE8A7C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72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878D9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5878D9"/>
                </a:solidFill>
                <a:latin typeface="Yu Gothic"/>
                <a:ea typeface="Yu Gothic"/>
                <a:cs typeface="Yu Gothic"/>
              </a:rPr>
              <a:t>LP PROPOSAL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9906DE-7CBB-4722-B2EE-A0105572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09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1922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51922"/>
                </a:solidFill>
                <a:latin typeface="Yu Gothic"/>
                <a:ea typeface="Yu Gothic"/>
                <a:cs typeface="Yu Gothic"/>
              </a:rPr>
              <a:t>LPは施設紹介から、AI体験会を予約したくなるページへ変える。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4D7FC2-6E4C-4F2A-B16A-0A079670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44577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1922">
                <a:alpha val="1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4E185D-6F46-45FE-B596-E32D9073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7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7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B5858D-E3B5-480A-85D2-80885856F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86000"/>
            <a:ext cx="403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922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51922"/>
                </a:solidFill>
                <a:latin typeface="Yu Gothic"/>
                <a:ea typeface="Yu Gothic"/>
                <a:cs typeface="Yu Gothic"/>
              </a:rPr>
              <a:t>First 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08898F-F76A-41A7-84AA-A56BE2B9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28900"/>
            <a:ext cx="4038600" cy="-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80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57080"/>
                </a:solidFill>
                <a:latin typeface="Yu Gothic"/>
                <a:ea typeface="Yu Gothic"/>
                <a:cs typeface="Yu Gothic"/>
              </a:rPr>
              <a:t>AIクリエイティブ体験会を主役にして、見学理由を明確にする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E6518B-D209-46CE-AEDE-616D3FE4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44577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1922">
                <a:alpha val="12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BC0660-0EAE-47C6-8019-F9ACF565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7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7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BE2642-6E23-4305-9489-F906E46BD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67050"/>
            <a:ext cx="403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922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51922"/>
                </a:solidFill>
                <a:latin typeface="Yu Gothic"/>
                <a:ea typeface="Yu Gothic"/>
                <a:cs typeface="Yu Gothic"/>
              </a:rPr>
              <a:t>Proof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98E522-6501-4D92-9EE4-BAADC6F2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09950"/>
            <a:ext cx="4038600" cy="-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80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57080"/>
                </a:solidFill>
                <a:latin typeface="Yu Gothic"/>
                <a:ea typeface="Yu Gothic"/>
                <a:cs typeface="Yu Gothic"/>
              </a:rPr>
              <a:t>利用者作品・未経験からの成長・心理支援を早い位置で提示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B2F73E-C934-4674-9161-8159522B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44577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1922">
                <a:alpha val="12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EF6A3E-7220-419B-92FB-A3D79929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7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6D9613-8D56-4BE1-92D3-8DD67EF0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48100"/>
            <a:ext cx="403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922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51922"/>
                </a:solidFill>
                <a:latin typeface="Yu Gothic"/>
                <a:ea typeface="Yu Gothic"/>
                <a:cs typeface="Yu Gothic"/>
              </a:rPr>
              <a:t>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9B8327-2175-4863-9FE9-F5FD8866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0"/>
            <a:ext cx="4038600" cy="-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80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57080"/>
                </a:solidFill>
                <a:latin typeface="Yu Gothic"/>
                <a:ea typeface="Yu Gothic"/>
                <a:cs typeface="Yu Gothic"/>
              </a:rPr>
              <a:t>体験内容、安心設計、申し込み手順を1画面ずつ短く見せる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E10166-68AB-45EA-8E5E-0FF1E36E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44577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1922">
                <a:alpha val="12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76B544-EC2F-46A3-9075-1067EDD7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7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9B056D-0433-41DC-ABE8-5D5B1281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29150"/>
            <a:ext cx="403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922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51922"/>
                </a:solidFill>
                <a:latin typeface="Yu Gothic"/>
                <a:ea typeface="Yu Gothic"/>
                <a:cs typeface="Yu Gothic"/>
              </a:rPr>
              <a:t>CTA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BCC5ED-5BBE-4BBF-A3BD-BAC8EA16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72050"/>
            <a:ext cx="4038600" cy="-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80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57080"/>
                </a:solidFill>
                <a:latin typeface="Yu Gothic"/>
                <a:ea typeface="Yu Gothic"/>
                <a:cs typeface="Yu Gothic"/>
              </a:rPr>
              <a:t>見学予約・電話・LINE等の主要行動を全セクションに置く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00E9E7-8212-44BF-94C8-D8C0C9B3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28800"/>
            <a:ext cx="4400550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1922">
                <a:alpha val="14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B85637-5C7E-43CC-8AC2-08AC46FE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28800"/>
            <a:ext cx="4400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DFDF30-5E62-4372-9F25-42A8AC38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81200"/>
            <a:ext cx="514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7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EE93A8-14BB-48D4-94FB-FDF73024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981200"/>
            <a:ext cx="800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7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462A36-8466-4BBB-BCA5-FA322FA2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47950"/>
            <a:ext cx="3028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51922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51922"/>
                </a:solidFill>
                <a:latin typeface="Yu Gothic"/>
                <a:ea typeface="Yu Gothic"/>
                <a:cs typeface="Yu Gothic"/>
              </a:rPr>
              <a:t>AIクリエイティブ体験会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377148-2CA3-4FB6-9872-0C1B8E28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19450"/>
            <a:ext cx="3048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31A828-ECC5-4479-96E4-B32393C2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67100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AA51BD-8DC2-4B15-9CA3-56EDF601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05250"/>
            <a:ext cx="1314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7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6B6E71-7F7C-4B94-A5D0-142519E9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195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見学予約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CDF939-8474-4A1D-9B98-A3B44EC4A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29050"/>
            <a:ext cx="18288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8BCA37-539F-4A70-A16F-B07A9B83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195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F9C371-2476-44D3-86E6-2A80E631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195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7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E533DF-73FE-4172-8CB0-62B0D4C6E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19550"/>
            <a:ext cx="266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5E55D3-FA95-4757-868C-C0B34A22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57080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657080"/>
                </a:solidFill>
                <a:latin typeface="Yu Gothic"/>
                <a:ea typeface="Yu Gothic"/>
                <a:cs typeface="Yu Gothic"/>
              </a:rPr>
              <a:t>成果物プレビュー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6F15A55-B0A7-48CD-A907-B799DCE4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657850"/>
            <a:ext cx="114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>
              <a:alpha val="1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F73559A-D1AB-49E9-BEEA-587DF045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56260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080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657080"/>
                </a:solidFill>
                <a:latin typeface="Yu Gothic"/>
                <a:ea typeface="Yu Gothic"/>
                <a:cs typeface="Yu Gothic"/>
              </a:rPr>
              <a:t>Hero / Proof / Program / Works / Support / Contact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BA9D08-2457-49B7-83DE-6B5EAA1A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91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>
              <a:alpha val="1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BC2A32C-EC9C-4473-AF7C-19507A6D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22935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51922">
                    <a:alpha val="52000"/>
                  </a:srgbClr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151922">
                    <a:alpha val="52000"/>
                  </a:srgbClr>
                </a:solidFill>
                <a:latin typeface="Yu Gothic"/>
                <a:ea typeface="Yu Gothic"/>
                <a:cs typeface="Yu Gothic"/>
              </a:rPr>
              <a:t>Source: musicjam.jp current LP; proposed IA and wireframe by Codex.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0E7AA08-A7EE-4F3A-94B1-4E79707BB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7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51922">
                    <a:alpha val="58000"/>
                  </a:srgbClr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151922">
                    <a:alpha val="58000"/>
                  </a:srgbClr>
                </a:solidFill>
                <a:latin typeface="Yu Gothic"/>
                <a:ea typeface="Yu Gothic"/>
                <a:cs typeface="Yu Gothi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4657318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884DB2-736B-40AD-8394-5D2C5DDB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161085A5-0549-4CA3-A609-4CC6E811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323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7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7855BEDE-048A-4CA9-BF93-4E4B7CE1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72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C79A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55C79A"/>
                </a:solidFill>
                <a:latin typeface="Yu Gothic"/>
                <a:ea typeface="Yu Gothic"/>
                <a:cs typeface="Yu Gothic"/>
              </a:rPr>
              <a:t>AD BANNER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99AA9D-D2E0-45C1-A9BA-5FC88783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09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広告は1案ではなく、来所前の不安別に3つの角度で出す。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4ea654e21c4d81"/>
          <a:stretch xmlns:a="http://schemas.openxmlformats.org/drawingml/2006/main"/>
        </p:blipFill>
        <p:spPr>
          <a:xfrm xmlns:a="http://schemas.openxmlformats.org/drawingml/2006/main">
            <a:off x="704850" y="2057876"/>
            <a:ext cx="4857750" cy="2542223"/>
          </a:xfrm>
          <a:prstGeom xmlns:a="http://schemas.openxmlformats.org/drawingml/2006/main" prst="rect">
            <a:avLst/>
          </a:prstGeom>
        </p:spPr>
      </p:pic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16cd319eb24990"/>
          <a:stretch xmlns:a="http://schemas.openxmlformats.org/drawingml/2006/main"/>
        </p:blipFill>
        <p:spPr>
          <a:xfrm xmlns:a="http://schemas.openxmlformats.org/drawingml/2006/main">
            <a:off x="6115050" y="1962150"/>
            <a:ext cx="2000250" cy="2000250"/>
          </a:xfrm>
          <a:prstGeom xmlns:a="http://schemas.openxmlformats.org/drawingml/2006/main" prst="rect">
            <a:avLst/>
          </a:prstGeom>
        </p:spPr>
      </p:pic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b4a10337c24a74"/>
          <a:stretch xmlns:a="http://schemas.openxmlformats.org/drawingml/2006/main"/>
        </p:blipFill>
        <p:spPr>
          <a:xfrm xmlns:a="http://schemas.openxmlformats.org/drawingml/2006/main">
            <a:off x="6115050" y="4343766"/>
            <a:ext cx="4000500" cy="494567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74937A-3B2A-41D0-88A1-B505E18B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1020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31B068-646C-495F-894A-76918CEBD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C94C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F2C94C"/>
                </a:solidFill>
                <a:latin typeface="Yu Gothic"/>
                <a:ea typeface="Yu Gothic"/>
                <a:cs typeface="Yu Gothic"/>
              </a:rPr>
              <a:t>初心者不安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5A56ED-AA54-428A-AEC1-BB576D3C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505450"/>
            <a:ext cx="139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>
                    <a:alpha val="68000"/>
                  </a:srgbClr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FFFFFF">
                    <a:alpha val="68000"/>
                  </a:srgbClr>
                </a:solidFill>
                <a:latin typeface="Yu Gothic"/>
                <a:ea typeface="Yu Gothic"/>
                <a:cs typeface="Yu Gothic"/>
              </a:rPr>
              <a:t>「未経験から」を明示し、ハードルを下げる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545C21-EA22-4712-8A02-5D91E960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41020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0A961B-7500-4D1C-A09F-9EA56196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5245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C94C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F2C94C"/>
                </a:solidFill>
                <a:latin typeface="Yu Gothic"/>
                <a:ea typeface="Yu Gothic"/>
                <a:cs typeface="Yu Gothic"/>
              </a:rPr>
              <a:t>創作欲求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030051-016F-40A0-B275-BC2A8B3E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505450"/>
            <a:ext cx="139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>
                    <a:alpha val="68000"/>
                  </a:srgbClr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FFFFFF">
                    <a:alpha val="68000"/>
                  </a:srgbClr>
                </a:solidFill>
                <a:latin typeface="Yu Gothic"/>
                <a:ea typeface="Yu Gothic"/>
                <a:cs typeface="Yu Gothic"/>
              </a:rPr>
              <a:t>「好き」を作品にする期待を前面に出す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39FAE6-F8C9-494C-9DE0-1B9DB0C5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41020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FC2C6E-1B6C-476D-B238-F2275F07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5245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C94C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F2C94C"/>
                </a:solidFill>
                <a:latin typeface="Yu Gothic"/>
                <a:ea typeface="Yu Gothic"/>
                <a:cs typeface="Yu Gothic"/>
              </a:rPr>
              <a:t>具体成果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718207-9EBC-4A81-ADBC-05A3DEA3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505450"/>
            <a:ext cx="139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>
                    <a:alpha val="68000"/>
                  </a:srgbClr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FFFFFF">
                    <a:alpha val="68000"/>
                  </a:srgbClr>
                </a:solidFill>
                <a:latin typeface="Yu Gothic"/>
                <a:ea typeface="Yu Gothic"/>
                <a:cs typeface="Yu Gothic"/>
              </a:rPr>
              <a:t>LP・広告・動画など作るものを見せる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0CB751-049B-4D6D-9CDA-EDADA949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91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C6FFEB-F3CB-45E7-974F-35132545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22935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FFFFF">
                    <a:alpha val="56000"/>
                  </a:srgbClr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FFFFFF">
                    <a:alpha val="56000"/>
                  </a:srgbClr>
                </a:solidFill>
                <a:latin typeface="Yu Gothic"/>
                <a:ea typeface="Yu Gothic"/>
                <a:cs typeface="Yu Gothic"/>
              </a:rPr>
              <a:t>Source: Proposal banner mockups generated in this project; no official logo embedded.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2731AE-96FF-4877-B931-15746189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7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>
                    <a:alpha val="66000"/>
                  </a:srgbClr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FFFFFF">
                    <a:alpha val="66000"/>
                  </a:srgbClr>
                </a:solidFill>
                <a:latin typeface="Yu Gothic"/>
                <a:ea typeface="Yu Gothic"/>
                <a:cs typeface="Yu Gothi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2977130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1FA09D-26B6-478E-946D-4389CA946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6965D95D-AC7E-458B-8CEF-FF6B6256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323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42458314-A05E-43E6-900F-1A10568B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72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878D9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5878D9"/>
                </a:solidFill>
                <a:latin typeface="Yu Gothic"/>
                <a:ea typeface="Yu Gothic"/>
                <a:cs typeface="Yu Gothic"/>
              </a:rPr>
              <a:t>90-DAY ROLLOUT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C89A3B-0BDE-40BD-BA2E-B948A114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09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1922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51922"/>
                </a:solidFill>
                <a:latin typeface="Yu Gothic"/>
                <a:ea typeface="Yu Gothic"/>
                <a:cs typeface="Yu Gothic"/>
              </a:rPr>
              <a:t>30日で公開、60日で改善、90日で事業所内の制作メニューに定着させる。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96BDC3-186B-4847-A58E-70E4316C0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7900"/>
            <a:ext cx="29527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1922">
                <a:alpha val="1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4EB5E0-4CE4-4460-BC7A-A2DB5571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7900"/>
            <a:ext cx="2952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7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3C24DF-8401-40B1-956E-CEE4AE3CD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47950"/>
            <a:ext cx="1162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1922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51922"/>
                </a:solidFill>
                <a:latin typeface="Yu Gothic"/>
                <a:ea typeface="Yu Gothic"/>
                <a:cs typeface="Yu Gothic"/>
              </a:rPr>
              <a:t>0-30日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6AF345-4821-4EAF-9C17-ABD78E54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6230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674A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F2674A"/>
                </a:solidFill>
                <a:latin typeface="Yu Gothic"/>
                <a:ea typeface="Yu Gothic"/>
                <a:cs typeface="Yu Gothic"/>
              </a:rPr>
              <a:t>公開する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DA0549-41CD-45AC-8043-14411C8B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95700"/>
            <a:ext cx="2343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8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57080"/>
                </a:solidFill>
                <a:latin typeface="Yu Gothic"/>
                <a:ea typeface="Yu Gothic"/>
                <a:cs typeface="Yu Gothic"/>
              </a:rPr>
              <a:t>提案スライド / LP初版 / バナー3種 / AI体験会メニュー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1A1FE2-9949-452B-AE8D-F1C9D41C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33375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>
              <a:alpha val="26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AFF3D0-68EF-41B5-8AB8-6D5A5CA10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47900"/>
            <a:ext cx="29527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1922">
                <a:alpha val="12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750205-0E69-4FE1-8F0A-F2C023F5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47900"/>
            <a:ext cx="2952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9908FC-5F79-49C5-8E2D-0E1C7F4E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47950"/>
            <a:ext cx="1162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1922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51922"/>
                </a:solidFill>
                <a:latin typeface="Yu Gothic"/>
                <a:ea typeface="Yu Gothic"/>
                <a:cs typeface="Yu Gothic"/>
              </a:rPr>
              <a:t>31-60日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703320-FE43-4904-AAD6-34C80A30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6230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878D9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5878D9"/>
                </a:solidFill>
                <a:latin typeface="Yu Gothic"/>
                <a:ea typeface="Yu Gothic"/>
                <a:cs typeface="Yu Gothic"/>
              </a:rPr>
              <a:t>学習する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FBB1B5-68EF-4E60-8AE0-79E02277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695700"/>
            <a:ext cx="2343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8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57080"/>
                </a:solidFill>
                <a:latin typeface="Yu Gothic"/>
                <a:ea typeface="Yu Gothic"/>
                <a:cs typeface="Yu Gothic"/>
              </a:rPr>
              <a:t>問い合わせ文言 / CTA位置 / 体験後アンケート / 作品掲載導線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946B38-0106-4579-9597-52BBEC02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33375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>
              <a:alpha val="26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6A9B91-E05B-4C35-B922-CB244E02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47900"/>
            <a:ext cx="29527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1922">
                <a:alpha val="12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21D623-BA3C-4C27-B5C5-E76629B9E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47900"/>
            <a:ext cx="2952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7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E0CA8F-C894-4ED3-B944-35D8DFD7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47950"/>
            <a:ext cx="1162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1922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51922"/>
                </a:solidFill>
                <a:latin typeface="Yu Gothic"/>
                <a:ea typeface="Yu Gothic"/>
                <a:cs typeface="Yu Gothic"/>
              </a:rPr>
              <a:t>61-90日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7A8BBC-BFB2-4867-934F-835B282E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6230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5C79A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55C79A"/>
                </a:solidFill>
                <a:latin typeface="Yu Gothic"/>
                <a:ea typeface="Yu Gothic"/>
                <a:cs typeface="Yu Gothic"/>
              </a:rPr>
              <a:t>広げる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EBA96F-DC66-48FA-B1B0-A063A971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95700"/>
            <a:ext cx="2343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8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57080"/>
                </a:solidFill>
                <a:latin typeface="Yu Gothic"/>
                <a:ea typeface="Yu Gothic"/>
                <a:cs typeface="Yu Gothic"/>
              </a:rPr>
              <a:t>利用者ポートフォリオ / 外部向け制作メニュー / 次回広告素材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7D0BB9-4A12-4C88-B597-4AD33397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9677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53FA07-2572-4E25-80DF-C5FB9E67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0065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毎月の判断基準: 見学予約数、フォーム離脱、体験後の作品数、スタッフの運用負荷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88DD00-16E3-43CA-BE3A-D3F86ABC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91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>
              <a:alpha val="1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AA596D-B83F-4B10-B345-2A1478EE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22935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51922">
                    <a:alpha val="52000"/>
                  </a:srgbClr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151922">
                    <a:alpha val="52000"/>
                  </a:srgbClr>
                </a:solidFill>
                <a:latin typeface="Yu Gothic"/>
                <a:ea typeface="Yu Gothic"/>
                <a:cs typeface="Yu Gothic"/>
              </a:rPr>
              <a:t>Source: Proposed pilot rollout and measurement plan by Codex.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01ACAB-CFD2-4F9D-8504-2A501CDCE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7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51922">
                    <a:alpha val="58000"/>
                  </a:srgbClr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151922">
                    <a:alpha val="58000"/>
                  </a:srgbClr>
                </a:solidFill>
                <a:latin typeface="Yu Gothic"/>
                <a:ea typeface="Yu Gothic"/>
                <a:cs typeface="Yu Gothi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7134006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83C7E9-0BD0-45E7-A29B-F80E9377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9-marker">
            <a:extLst xmlns:a="http://schemas.openxmlformats.org/drawingml/2006/main">
              <a:ext uri="{FF2B5EF4-FFF2-40B4-BE49-F238E27FC236}">
                <a16:creationId xmlns:a16="http://schemas.microsoft.com/office/drawing/2014/main" id="{9F169948-31FC-430A-A721-027B65C2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323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7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9-label">
            <a:extLst xmlns:a="http://schemas.openxmlformats.org/drawingml/2006/main">
              <a:ext uri="{FF2B5EF4-FFF2-40B4-BE49-F238E27FC236}">
                <a16:creationId xmlns:a16="http://schemas.microsoft.com/office/drawing/2014/main" id="{F68FEC1A-4530-46C2-8FEF-CB33E8B0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72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C79A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55C79A"/>
                </a:solidFill>
                <a:latin typeface="Yu Gothic"/>
                <a:ea typeface="Yu Gothic"/>
                <a:cs typeface="Yu Gothic"/>
              </a:rPr>
              <a:t>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4243E0-6DF3-4C7A-8C4E-51BC276B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09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受注するなら、まずは“AI体験会パッケージ”として小さく始める。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91D51A-2BC3-4BC6-AA79-BFC2A5A6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438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D8A728-3BE0-4D24-947F-F001E58F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7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2C0C42-2320-46E2-98CE-D4161D82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76500"/>
            <a:ext cx="3962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提案スライド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13B939-D225-49A2-9786-A764A92F1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19400"/>
            <a:ext cx="396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>
                    <a:alpha val="68000"/>
                  </a:srgbClr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FFFFFF">
                    <a:alpha val="68000"/>
                  </a:srgbClr>
                </a:solidFill>
                <a:latin typeface="Yu Gothic"/>
                <a:ea typeface="Yu Gothic"/>
                <a:cs typeface="Yu Gothic"/>
              </a:rPr>
              <a:t>事業所向け説明・稟議に使える資料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9F3CE5-5A26-4E83-B27E-44375EC1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266950"/>
            <a:ext cx="438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59FF50-A954-4DA6-A8E3-3982A942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266950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4E9B3E-62A0-485F-AC52-C6A0F670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76500"/>
            <a:ext cx="3962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LPプロトタイプ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177606-F6E1-428B-AD20-420403E7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819400"/>
            <a:ext cx="396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>
                    <a:alpha val="68000"/>
                  </a:srgbClr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FFFFFF">
                    <a:alpha val="68000"/>
                  </a:srgbClr>
                </a:solidFill>
                <a:latin typeface="Yu Gothic"/>
                <a:ea typeface="Yu Gothic"/>
                <a:cs typeface="Yu Gothic"/>
              </a:rPr>
              <a:t>AI体験会を主役にした予約導線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8092E0-34D4-4C25-B1B6-2917C3154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438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550BEB-4CE6-4FD5-982B-8D0C6984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5CA5DB-A5F4-4674-A890-256A771D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33800"/>
            <a:ext cx="3962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広告バナー3種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5DE438-D656-4175-8F77-62C299BB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76700"/>
            <a:ext cx="396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>
                    <a:alpha val="68000"/>
                  </a:srgbClr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FFFFFF">
                    <a:alpha val="68000"/>
                  </a:srgbClr>
                </a:solidFill>
                <a:latin typeface="Yu Gothic"/>
                <a:ea typeface="Yu Gothic"/>
                <a:cs typeface="Yu Gothic"/>
              </a:rPr>
              <a:t>SNS / ディスプレイ / リマーケ用の初期案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C8F96E-C802-44CE-A4E0-780124A3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524250"/>
            <a:ext cx="438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E783A8-FB96-4CF7-9383-CC3D53019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524250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7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3CFADB-062B-4906-A9CA-D7F3E8FC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733800"/>
            <a:ext cx="3962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活動テンプレート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A19BB7-2116-43CC-A05E-309CC948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076700"/>
            <a:ext cx="396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>
                    <a:alpha val="68000"/>
                  </a:srgbClr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FFFFFF">
                    <a:alpha val="68000"/>
                  </a:srgbClr>
                </a:solidFill>
                <a:latin typeface="Yu Gothic"/>
                <a:ea typeface="Yu Gothic"/>
                <a:cs typeface="Yu Gothic"/>
              </a:rPr>
              <a:t>利用者・AI・スタッフの役割表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962EB9-8329-4179-B3D3-53BB0DEB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9696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7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73DAF9-1435-4E89-AD46-F7AA4541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29250"/>
            <a:ext cx="8801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1922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51922"/>
                </a:solidFill>
                <a:latin typeface="Yu Gothic"/>
                <a:ea typeface="Yu Gothic"/>
                <a:cs typeface="Yu Gothic"/>
              </a:rPr>
              <a:t>勝ち筋: AIを売るのではなく、利用者の作品が増え、見学したくなる仕組みを売る。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217FD3-FAEE-4C4E-A6DA-0DB0CCBF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91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BF7916-4096-46E6-A5B4-86D2607E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22935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FFFFF">
                    <a:alpha val="56000"/>
                  </a:srgbClr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FFFFFF">
                    <a:alpha val="56000"/>
                  </a:srgbClr>
                </a:solidFill>
                <a:latin typeface="Yu Gothic"/>
                <a:ea typeface="Yu Gothic"/>
                <a:cs typeface="Yu Gothic"/>
              </a:rPr>
              <a:t>Source: Proposal package created for 3D &amp; MUSIC JAM AI activity pitch.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8F3D7-E410-4DBC-8510-05E634A1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7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>
                    <a:alpha val="66000"/>
                  </a:srgbClr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FFFFFF">
                    <a:alpha val="66000"/>
                  </a:srgbClr>
                </a:solidFill>
                <a:latin typeface="Yu Gothic"/>
                <a:ea typeface="Yu Gothic"/>
                <a:cs typeface="Yu Gothi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281978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2026-05-10T04:12:02.5860000Z</dcterms:created>
  <dcterms:modified xsi:type="dcterms:W3CDTF">2026-05-10T04:12:02.5860000Z</dcterms:modified>
</coreProperties>
</file>