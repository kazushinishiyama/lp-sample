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c26897b0a046bb" /><Relationship Type="http://schemas.openxmlformats.org/officeDocument/2006/relationships/extended-properties" Target="/docProps/app.xml" Id="R9abc0742b2d749f1" /><Relationship Type="http://schemas.openxmlformats.org/officeDocument/2006/relationships/officeDocument" Target="/ppt/presentation.xml" Id="R1694854e0a9a40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037741002841cf"/>
  </p:sldMasterIdLst>
  <p:notesMasterIdLst>
    <p:notesMasterId xmlns:r="http://schemas.openxmlformats.org/officeDocument/2006/relationships" r:id="Rce1bb8a461204a91"/>
  </p:notesMasterIdLst>
  <p:sldIdLst>
    <p:sldId xmlns:r="http://schemas.openxmlformats.org/officeDocument/2006/relationships" id="256" r:id="Rda4236ed82554e63"/>
    <p:sldId xmlns:r="http://schemas.openxmlformats.org/officeDocument/2006/relationships" id="257" r:id="Ra017c6d949d34224"/>
    <p:sldId xmlns:r="http://schemas.openxmlformats.org/officeDocument/2006/relationships" id="258" r:id="Rd4cea9813af24ad2"/>
    <p:sldId xmlns:r="http://schemas.openxmlformats.org/officeDocument/2006/relationships" id="259" r:id="Rf99367edf06749be"/>
    <p:sldId xmlns:r="http://schemas.openxmlformats.org/officeDocument/2006/relationships" id="260" r:id="R0cbfed9c4b3d45a5"/>
    <p:sldId xmlns:r="http://schemas.openxmlformats.org/officeDocument/2006/relationships" id="261" r:id="R74ceae746f394b24"/>
    <p:sldId xmlns:r="http://schemas.openxmlformats.org/officeDocument/2006/relationships" id="262" r:id="Re4b3d95f5a904b1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037741002841cf" /><Relationship Type="http://schemas.openxmlformats.org/officeDocument/2006/relationships/theme" Target="/ppt/theme/theme1.xml" Id="R4efa1c49f6484524" /><Relationship Type="http://schemas.openxmlformats.org/officeDocument/2006/relationships/notesMaster" Target="/ppt/notesMasters/notesMaster1.xml" Id="Rce1bb8a461204a91" /><Relationship Type="http://schemas.openxmlformats.org/officeDocument/2006/relationships/presProps" Target="/ppt/presProps.xml" Id="R1260b27e63964a2a" /><Relationship Type="http://schemas.openxmlformats.org/officeDocument/2006/relationships/viewProps" Target="/ppt/viewProps.xml" Id="Rda45289fbb3245b1" /><Relationship Type="http://schemas.openxmlformats.org/officeDocument/2006/relationships/tableStyles" Target="/ppt/tableStyles.xml" Id="R46096e7fe54946a0" /><Relationship Type="http://schemas.openxmlformats.org/officeDocument/2006/relationships/slide" Target="/ppt/slides/slide1.xml" Id="Rda4236ed82554e63" /><Relationship Type="http://schemas.openxmlformats.org/officeDocument/2006/relationships/slide" Target="/ppt/slides/slide2.xml" Id="Ra017c6d949d34224" /><Relationship Type="http://schemas.openxmlformats.org/officeDocument/2006/relationships/slide" Target="/ppt/slides/slide3.xml" Id="Rd4cea9813af24ad2" /><Relationship Type="http://schemas.openxmlformats.org/officeDocument/2006/relationships/slide" Target="/ppt/slides/slide4.xml" Id="Rf99367edf06749be" /><Relationship Type="http://schemas.openxmlformats.org/officeDocument/2006/relationships/slide" Target="/ppt/slides/slide5.xml" Id="R0cbfed9c4b3d45a5" /><Relationship Type="http://schemas.openxmlformats.org/officeDocument/2006/relationships/slide" Target="/ppt/slides/slide6.xml" Id="R74ceae746f394b24" /><Relationship Type="http://schemas.openxmlformats.org/officeDocument/2006/relationships/slide" Target="/ppt/slides/slide7.xml" Id="Re4b3d95f5a904b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73b6bdbf5274b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1f4521c1aa4cb0" /><Relationship Type="http://schemas.openxmlformats.org/officeDocument/2006/relationships/notesMaster" Target="/ppt/notesMasters/notesMaster1.xml" Id="Rdb6bc35f44ec42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6956d1540d4fef" /><Relationship Type="http://schemas.openxmlformats.org/officeDocument/2006/relationships/notesMaster" Target="/ppt/notesMasters/notesMaster1.xml" Id="R2d3b11a0c12e4b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016847a44342dc" /><Relationship Type="http://schemas.openxmlformats.org/officeDocument/2006/relationships/notesMaster" Target="/ppt/notesMasters/notesMaster1.xml" Id="R09e130b8c53a41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254f7e275d47cf" /><Relationship Type="http://schemas.openxmlformats.org/officeDocument/2006/relationships/notesMaster" Target="/ppt/notesMasters/notesMaster1.xml" Id="R9f01fa811ab546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f20e45166c41f9" /><Relationship Type="http://schemas.openxmlformats.org/officeDocument/2006/relationships/notesMaster" Target="/ppt/notesMasters/notesMaster1.xml" Id="R08ecdb5428454a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b395de73fb4f31" /><Relationship Type="http://schemas.openxmlformats.org/officeDocument/2006/relationships/notesMaster" Target="/ppt/notesMasters/notesMaster1.xml" Id="Rb782d02735d041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e69a795a9a4261" /><Relationship Type="http://schemas.openxmlformats.org/officeDocument/2006/relationships/notesMaster" Target="/ppt/notesMasters/notesMaster1.xml" Id="R8c7172a46c614c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b61e555e9749f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13f0c3f1a614b8c" /><Relationship Type="http://schemas.openxmlformats.org/officeDocument/2006/relationships/slideLayout" Target="/ppt/slideLayouts/slideLayout2.xml" Id="Re986fa2c42e340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86fa2c42e340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cc0c1425ec460f" /><Relationship Type="http://schemas.openxmlformats.org/officeDocument/2006/relationships/notesSlide" Target="/ppt/notesSlides/notesSlide1.xml" Id="R0868917a20cc45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e2accd71f04a67" /><Relationship Type="http://schemas.openxmlformats.org/officeDocument/2006/relationships/notesSlide" Target="/ppt/notesSlides/notesSlide2.xml" Id="R956ae49352ef42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3684ef48944d24" /><Relationship Type="http://schemas.openxmlformats.org/officeDocument/2006/relationships/notesSlide" Target="/ppt/notesSlides/notesSlide3.xml" Id="Rd5cecf16c6564b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399840010146d7" /><Relationship Type="http://schemas.openxmlformats.org/officeDocument/2006/relationships/notesSlide" Target="/ppt/notesSlides/notesSlide4.xml" Id="Rb393a051a04b44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5280eca5c445d0" /><Relationship Type="http://schemas.openxmlformats.org/officeDocument/2006/relationships/notesSlide" Target="/ppt/notesSlides/notesSlide5.xml" Id="R0f3c7381e3f649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465b6b86284eac" /><Relationship Type="http://schemas.openxmlformats.org/officeDocument/2006/relationships/notesSlide" Target="/ppt/notesSlides/notesSlide6.xml" Id="R07cbb2c4a2d445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ea8cbbe2ed4a57" /><Relationship Type="http://schemas.openxmlformats.org/officeDocument/2006/relationships/image" Target="/ppt/media/image.png" Id="Rdd2c74171ded4164" /><Relationship Type="http://schemas.openxmlformats.org/officeDocument/2006/relationships/image" Target="/ppt/media/image2.png" Id="Re76391b785314bd4" /><Relationship Type="http://schemas.openxmlformats.org/officeDocument/2006/relationships/notesSlide" Target="/ppt/notesSlides/notesSlide7.xml" Id="Red92267a79a74d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1FF59F-94B5-4088-A9DD-45B27854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F9706-C3FF-4336-954F-23DFD361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D5176-9CB5-4AB0-8A12-B6DC3A13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C94C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2C94C"/>
                </a:solidFill>
                <a:latin typeface="Yu Gothic"/>
                <a:ea typeface="Yu Gothic"/>
                <a:cs typeface="Yu Gothic"/>
              </a:rPr>
              <a:t>就労継続支援B型 ×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B4F31-E6F7-4F8A-A4FE-5D43B44E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572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AIで、広報と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制作作業を増やす。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57088-49BE-4D78-9C78-DE6F4F01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rPr>
              <a:t>GPT Image 2でLP・広告素材を作り、Codex / Claude Codeで職員の業務改善を進めるための説明資料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8D26F-93B9-46C9-9F5F-50180157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7CAB9-0744-4E63-B3C7-596ED4B5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24375"/>
            <a:ext cx="12573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スタッフ向け説明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EFC38-D23B-4A0A-8CF8-E6317414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243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>
                    <a:alpha val="6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>
                    <a:alpha val="62000"/>
                  </a:srgbClr>
                </a:solidFill>
                <a:latin typeface="Yu Gothic"/>
                <a:ea typeface="Yu Gothic"/>
                <a:cs typeface="Yu Gothic"/>
              </a:rPr>
              <a:t>2026.05.11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60BED-CF50-433D-9032-7517E1D5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19150"/>
            <a:ext cx="32575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B00D5-C2DD-4EAC-9FAD-582BCDF1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8110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69285-8273-48F4-90D0-24508439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8115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94A7A-295D-4346-A0A3-6CF0F072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6690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BDD30-813B-4F52-ACFD-B8E11E10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FC3A5-E235-4A5D-A627-9CAC0BA2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669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LP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95EB4-97DB-415C-860E-25C1D0F7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71850"/>
            <a:ext cx="2343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83059-9CFC-4E3D-B655-7216AA51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704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476862-361A-4ED0-9F2E-A280D79F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00500"/>
            <a:ext cx="1219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広告</a:t>
            </a:r>
          </a:p>
          <a:p xmlns:a="http://schemas.openxmlformats.org/drawingml/2006/main">
            <a:pPr algn="l">
              <a:defRPr sz="225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バナー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2920FC-586E-47B4-94FA-EAA7F085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71850"/>
            <a:ext cx="15049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73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BDEFC5-E529-426D-BCAB-29C29010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7147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D12A98-6C19-4E36-A032-BC61FE00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7147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2176FD-7E72-4022-A2E7-A7967E82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714750"/>
            <a:ext cx="20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75C18C-2D2A-4567-A599-5A1310CD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053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業務改善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282475-DFC1-4DBB-8E58-BB8723DD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AC8C4B-96BC-45FD-AE04-28FA765A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説明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1FF80F-3921-4AE5-B9A0-C1E7A0CC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5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FFFFFF">
                    <a:alpha val="58000"/>
                  </a:srgbClr>
                </a:solidFill>
                <a:latin typeface="Yu Gothic"/>
                <a:ea typeface="Yu Gothic"/>
                <a:cs typeface="Yu Gothic"/>
              </a:rPr>
              <a:t>AIを身近な補助役として理解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A08959-D2FC-4785-A3D8-B9B1003F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75310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D8BF12-3DEE-426D-8E51-02F89247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9245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制作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116CDE-D59A-4E81-9D2E-DE9614F9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1912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5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FFFFFF">
                    <a:alpha val="58000"/>
                  </a:srgbClr>
                </a:solidFill>
                <a:latin typeface="Yu Gothic"/>
                <a:ea typeface="Yu Gothic"/>
                <a:cs typeface="Yu Gothic"/>
              </a:rPr>
              <a:t>LP・バナーの初稿を短時間化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AD53A5-EE67-4042-8D6B-C5225BAE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5310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D2E0D1-EB48-449F-891B-41ADD63E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9245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改善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0E1487-7D19-4278-AC3B-51209960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1912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5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FFFFFF">
                    <a:alpha val="58000"/>
                  </a:srgbClr>
                </a:solidFill>
                <a:latin typeface="Yu Gothic"/>
                <a:ea typeface="Yu Gothic"/>
                <a:cs typeface="Yu Gothic"/>
              </a:rPr>
              <a:t>書類・サイト・表計算を効率化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9DE046-B1A3-42AA-A994-BE4F1EFA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5310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D084E9-571F-4F95-8F54-9B6C9DDD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9245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デモ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E74242-AC40-4244-BA69-2CC9C61C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61912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>
                    <a:alpha val="5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FFFFFF">
                    <a:alpha val="58000"/>
                  </a:srgbClr>
                </a:solidFill>
                <a:latin typeface="Yu Gothic"/>
                <a:ea typeface="Yu Gothic"/>
                <a:cs typeface="Yu Gothic"/>
              </a:rPr>
              <a:t>仮素材を差し替え前提で提示</a:t>
            </a:r>
          </a:p>
        </p:txBody>
      </p:sp>
    </p:spTree>
    <p:extLst>
      <p:ext uri="{BB962C8B-B14F-4D97-AF65-F5344CB8AC3E}">
        <p14:creationId xmlns:p14="http://schemas.microsoft.com/office/powerpoint/2010/main" val="620012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A4AEE0-A9A6-490A-BFC2-370A9AC5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05CF6092-9141-4506-8453-6EDEBFA9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0F3B1139-137E-42D9-96B5-A40DD02D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78D9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878D9"/>
                </a:solidFill>
                <a:latin typeface="Yu Gothic"/>
                <a:ea typeface="Yu Gothic"/>
                <a:cs typeface="Yu Gothic"/>
              </a:rPr>
              <a:t>AI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4B1DD-B28C-448A-84E9-A5AA23DD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AIは専門職を置き換える道具ではなく、下書きと選択肢を増やす道具。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5672C-741C-477E-A915-DEA40CE3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09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F14D2-8264-4A43-B0E1-AFDD4E02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8E8EC-4600-47BB-B539-1A8A803A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878D9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5878D9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30208-ADF9-46AD-910F-AA2368E4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860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入力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BAD96-3B20-49B3-A483-59C00BFB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やりたいことを</a:t>
            </a:r>
          </a:p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言葉で伝える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F202D-F666-43DA-A664-C72BE9DB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24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9C164-471D-4C99-B00B-19A459AF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209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4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CDBBF-0057-4A4D-A7BA-D7F07C06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1AEF5-749B-4D56-AF6E-0F556A12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28900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5C79A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55C79A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0538A-B163-49F9-8156-84F545EE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BC9B3-B069-4431-8948-D69A57F4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3850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文章・画像・コードの</a:t>
            </a:r>
          </a:p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初稿を作る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B6ACC-86D5-42EA-BB13-10B6AE73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43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24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24129-99AF-4FC0-AD3F-46162201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66950"/>
            <a:ext cx="209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FD905B-A342-46F4-BB70-B8B49806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6695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C45592-94FC-4960-A5FD-B59E44AB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28900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C94C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2C94C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4B0CEB-7E7C-4EAA-B6E6-2FA8D7FE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860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確認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0CDF92-FC75-4F67-8D44-3AE9F6CB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人が目的・表現・</a:t>
            </a:r>
          </a:p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正しさを見る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4AAEEF-A254-40DA-845A-E8E5B4A6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24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D43FB7-FEBA-46A6-92DA-F1850DA0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09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8BD661-8174-469A-93E1-FBFBB547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EE3B6E-0A99-4DF5-9F17-DBF50D5C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28900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2674A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2674A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A5348F-0FC6-4143-96FB-2D221377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860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活用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762237-90E9-4850-9E4E-7C1BF086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3850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LP・広告・記録・</a:t>
            </a:r>
          </a:p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業務改善に使う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117DF9-BED4-4A7A-B681-BF0972C3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9677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A5187E-9CF0-4544-8F8F-E153F6D8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847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今日伝えること: AIに全部任せるのではなく、職員が判断できる初稿を速く作る。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E28786-D8C2-496B-AB79-70F88DDD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1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F86C14-131D-4EDE-AF47-3466B098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229350"/>
            <a:ext cx="733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1922">
                    <a:alpha val="5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151922">
                    <a:alpha val="52000"/>
                  </a:srgbClr>
                </a:solidFill>
                <a:latin typeface="Yu Gothic"/>
                <a:ea typeface="Yu Gothic"/>
                <a:cs typeface="Yu Gothic"/>
              </a:rPr>
              <a:t>Message: AI generates drafts; staff retain judgment and publication control.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7AF321-377E-48DD-970F-33285225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51922">
                    <a:alpha val="5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51922">
                    <a:alpha val="58000"/>
                  </a:srgbClr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01264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AD18EB-F992-428C-AB4C-FB718BB9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42DCA850-9937-4CB1-B80E-507B4C88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33A82673-3F7C-49A4-9B1D-CED5B521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79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5C79A"/>
                </a:solidFill>
                <a:latin typeface="Yu Gothic"/>
                <a:ea typeface="Yu Gothic"/>
                <a:cs typeface="Yu Gothic"/>
              </a:rPr>
              <a:t>WHERE IT HELPS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12EC5-D7D6-4EF7-8153-BEEA54D6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B型事業所では、広報・作業メニュー・職員業務の3か所に効く。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6EE35-A1FF-4D4C-86F6-9F56C8FD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8765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4D320-6055-494B-9963-EC1C1E25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876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FCAF3-A955-4752-B3AC-581E613F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広報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11BBB-AC19-47AC-B1D8-1CCC17C8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09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rPr>
              <a:t>LP、広告バナー、SNS投稿、説明会告知の初稿を速く作れる。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43B1F-CA07-4462-B9BC-9F1F9556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43150"/>
            <a:ext cx="28765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BD580-A107-440E-8868-AA7FFAE2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43150"/>
            <a:ext cx="2876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A9C5C-C8EF-492A-8812-27D20CDA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作業メニュー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B3A30-6445-4D35-A7B4-3730103F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09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rPr>
              <a:t>画像チェック、案の比較、投稿文づくり、配置調整を作業化できる。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7E2F1-3340-469C-B795-0CD807C1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43150"/>
            <a:ext cx="28765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AF496-AA85-4264-B4B9-03697DFB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43150"/>
            <a:ext cx="2876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CBB01-05C3-4D41-B501-EB5C431B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職員業務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7104D-CA6D-42D2-B7E2-293E74A6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09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rPr>
              <a:t>マニュアル、表計算、Web修正、定型文、チェックリストを改善できる。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B6D63C-4531-44AB-8336-C9CAD587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C94C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2C94C"/>
                </a:solidFill>
                <a:latin typeface="Yu Gothic"/>
                <a:ea typeface="Yu Gothic"/>
                <a:cs typeface="Yu Gothic"/>
              </a:rPr>
              <a:t>ポイントは「AI導入」そのものではなく、外に見せられる成果物と日々の作業を増やすこと。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E5B1F-E7BC-44E2-AA3A-5B0A8A0E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A52382-E211-46B1-BAD4-83585D8C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229350"/>
            <a:ext cx="733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rPr>
              <a:t>Use cases synthesized for a Type B office staff presentation.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F3FF9-DD28-4D06-94E2-DCEDB5D7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019331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522CD9-6315-4AB3-8E29-DDAB07FE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7E2C0570-5270-4878-91BB-B5065179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88705600-2994-4CE3-956F-D266F178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78D9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878D9"/>
                </a:solidFill>
                <a:latin typeface="Yu Gothic"/>
                <a:ea typeface="Yu Gothic"/>
                <a:cs typeface="Yu Gothic"/>
              </a:rPr>
              <a:t>GPT IMAGE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9742F-058E-464E-877A-92AB356C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GPT Image 2は、LPと広告に使うビジュアル案を短時間で増やせる。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D704B-A801-41C2-83D3-1C0EEBE8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7EB48-EEB6-4591-B332-1CF95C02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7F4D7-FF30-4298-9276-B24BFCDB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入力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ACE1B-9689-4A5A-820A-215AF27C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2628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文章プロンプト / 参考画像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AAA50-BAF9-4A39-A6E3-F6E7EB46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64AE3-3A41-4BA3-8B31-F8F2610C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C351D-B955-4D87-9051-F700B608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出力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704B0-182A-4024-89C3-579CF6DD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2628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LP用画像 / 広告バナー案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0191F-D920-409C-8C93-F2BF66EA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4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DBA53-0883-468A-8410-88CC1F1A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CA1BE-9271-4CA4-8617-49D7EE1E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5290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調整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D78D3-4D27-45D2-99C0-AB63F980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2628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サイズ、品質、形式、雰囲気</a:t>
            </a:r>
          </a:p>
        </p:txBody>
      </p:sp>
      <p:sp>
        <p:nvSpPr>
          <p:cNvPr id="17" name="LP_IMAGE_PLACEHOLDER">
            <a:extLst xmlns:a="http://schemas.openxmlformats.org/drawingml/2006/main">
              <a:ext uri="{FF2B5EF4-FFF2-40B4-BE49-F238E27FC236}">
                <a16:creationId xmlns:a16="http://schemas.microsoft.com/office/drawing/2014/main" id="{15FA5D39-EE8E-4CA8-AD88-8C99B101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38350"/>
            <a:ext cx="27051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1BEF5-1B5E-4F1C-9030-32E55078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9800"/>
            <a:ext cx="23622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151922">
                <a:alpha val="1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26A827-F569-4C2C-8F7F-E2E8366A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67100"/>
            <a:ext cx="2019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LPスクリーンショット</a:t>
            </a:r>
          </a:p>
          <a:p xmlns:a="http://schemas.openxmlformats.org/drawingml/2006/main">
            <a:pPr algn="ctr">
              <a:defRPr sz="1500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差し込み枠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230DB-4E5D-429A-B1C6-4A6B6B9F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47900"/>
            <a:ext cx="19812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151922">
                <a:alpha val="20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BB7688-9EBB-4076-AF19-DD962F90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19350"/>
            <a:ext cx="1714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DF20B6-42FD-495F-9C57-BBEEFF4C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47950"/>
            <a:ext cx="1371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7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D3069B-8F45-4C55-ABE4-E67F2579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38450"/>
            <a:ext cx="723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5D6EB4-7D18-422B-9F79-A937C688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67050"/>
            <a:ext cx="1266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75E521-0D59-4876-A382-183CFD28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337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DC9E34-30AD-475F-8378-6114C845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81425"/>
            <a:ext cx="923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3E9899-BB84-490F-81CD-3E1D33CA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57650"/>
            <a:ext cx="962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324932-A189-4131-80DF-6902D837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33850"/>
            <a:ext cx="666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LP仮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849317-929D-4D15-A83B-DCD679A0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95800"/>
            <a:ext cx="276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FC4C5D-55F9-4140-B039-0CB92667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495800"/>
            <a:ext cx="276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939317-217A-4F9F-8238-C60D6908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95800"/>
            <a:ext cx="276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BANNER_IMAGE_PLACEHOLDER">
            <a:extLst xmlns:a="http://schemas.openxmlformats.org/drawingml/2006/main">
              <a:ext uri="{FF2B5EF4-FFF2-40B4-BE49-F238E27FC236}">
                <a16:creationId xmlns:a16="http://schemas.microsoft.com/office/drawing/2014/main" id="{BCC77C5B-D051-4AFE-9B6D-8E9CCA0E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38350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4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DE75B2-B746-4E7F-A22B-2C7DE16D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09800"/>
            <a:ext cx="26098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9525">
            <a:solidFill>
              <a:srgbClr val="151922">
                <a:alpha val="10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EA1D4B-8676-429C-8C2B-BA971623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C08ECF-8155-48D0-9406-F269E64E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9850"/>
            <a:ext cx="590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81C495-9A90-4BC8-BE36-AA9058C5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194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AI体験会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FBE589-0164-4B2F-A7C0-6873CB6E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28900"/>
            <a:ext cx="55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CB6863-BB7A-4911-A6D2-F4848F11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957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DA3AC8-6F92-48E8-932D-66F83BCB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29075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文字は後からCanvaやPowerPointで入れる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B7A9F3-ED0E-4D15-9891-B1BDE4A8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148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1F5C37-3A05-439F-8BE2-F9455577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48175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公開前に人が確認する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5C78D9-B13D-47D6-A5B6-6ECB562C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33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3A1CDE-22F1-4771-ADD3-13FD4894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67275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複数案を並べて選ぶ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B00703-A0F9-4775-AC98-69D0A7A9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1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130330-F4F9-4615-AADD-843D4B08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229350"/>
            <a:ext cx="733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1922">
                    <a:alpha val="5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151922">
                    <a:alpha val="52000"/>
                  </a:srgbClr>
                </a:solidFill>
                <a:latin typeface="Yu Gothic"/>
                <a:ea typeface="Yu Gothic"/>
                <a:cs typeface="Yu Gothic"/>
              </a:rPr>
              <a:t>Model focus: GPT Image 2 for generated and edited image assets; placeholders are replaceable.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44DF6D-64A9-4DF0-A040-C75CCAC2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51922">
                    <a:alpha val="5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51922">
                    <a:alpha val="58000"/>
                  </a:srgbClr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145902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799946-2DC7-4C8F-B4DA-30D780FD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80AC65AB-4EE6-40C7-965A-0002E491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B229ED50-8F6D-4C83-9335-0ED65FDA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79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5C79A"/>
                </a:solidFill>
                <a:latin typeface="Yu Gothic"/>
                <a:ea typeface="Yu Gothic"/>
                <a:cs typeface="Yu Gothic"/>
              </a:rPr>
              <a:t>STAFF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4C6BB-66A2-4DB2-81C2-FF736ADF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Codex / Claude Codeは、職員の“ちょっと面倒なPC作業”を実装まで進める。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58225-F24A-467C-91AB-58F381D8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4362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CE6F8-6564-48E1-9409-0A859B31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55588-EF2C-4259-81D6-8EE60064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394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Web修正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92306-D8CE-4700-9823-6C1DABDC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394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rPr>
              <a:t>LPの文言、CTA、フォーム、表示崩れを直す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FF1FD-1612-43E3-BF40-AFDBCC89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47900"/>
            <a:ext cx="4362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D5BE4-CC6C-44BF-9F14-96C236D2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4790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723FA-4C2B-4B7D-9A58-6D167EE7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00300"/>
            <a:ext cx="394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表計算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C3AD4-F9D7-4508-91F1-B78669C5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05100"/>
            <a:ext cx="394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rPr>
              <a:t>CSV整理、集計表、請求・実績管理の補助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9443C-1F87-4BAE-8159-C1B9578D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4362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B01A55-14D1-4F4A-8942-4AD2D57A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5E4E2-DF91-4BA4-A08F-5FEB97E3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0"/>
            <a:ext cx="394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書類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0B853-6F53-40B5-AC17-9273D504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24300"/>
            <a:ext cx="394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rPr>
              <a:t>手順書、チェックリスト、定型文を整える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16C3F-D44F-4FDB-A0DF-EA720006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67100"/>
            <a:ext cx="43624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C6344-5F3F-4744-AFA7-23196067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6710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A1608-FA43-4099-BD95-727DE400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19500"/>
            <a:ext cx="394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自動化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C88CF-2D26-481A-947C-E6789A47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24300"/>
            <a:ext cx="394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rPr>
              <a:t>繰り返し作業をスクリプト化する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5D14A2-90F4-4471-BB4A-47B25B5B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962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2859C7-35EB-4EB7-8283-470DEA6B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14950"/>
            <a:ext cx="870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使い方: “この表を整理して”ではなく、“この業務をどう楽にするか考えて、必要なファイルを直して”と頼む。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D223D7-B017-4C63-B465-C8BC7227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F3E3CE-5D46-403B-B7C4-F356BC9A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229350"/>
            <a:ext cx="733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rPr>
              <a:t>Codex and Claude Code: coding agents that read/edit files and run commands in a controlled workspace.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AB55BA-ECD4-4ED8-A376-9C98DB83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94715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90C00D-444C-4A85-8764-7622B68C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D3C6BBA8-56DA-46BB-9090-CD69DE85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31BD8F8E-3481-4B1C-9957-9EB6B46B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78D9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878D9"/>
                </a:solidFill>
                <a:latin typeface="Yu Gothic"/>
                <a:ea typeface="Yu Gothic"/>
                <a:cs typeface="Yu Gothic"/>
              </a:rPr>
              <a:t>NEW WORK MENU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F1CC5-D960-4B2E-AAB6-CB0C5FDD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AIで作れる作業メニューは、制作そのものより“選ぶ・直す・整える”から始める。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A4B5D-2CAC-4528-B27D-0BA1F32A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895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4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D674C-DEE7-4F52-AB7A-EB31D3EB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895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07A0D-BE5D-4625-B784-716365EB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バナー比較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6B1E0-450E-4F2B-A49B-3738A0BE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3案を見比べて、印象・読みやすさをチェック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EE9B7-CF5B-4262-AC46-356FC9F5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14550"/>
            <a:ext cx="2895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4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7BCC1-EADA-443C-A2D6-4C468537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14550"/>
            <a:ext cx="2895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76A4D-80D2-462E-8EE6-7B1C061C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画像チェック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90448-9780-4FCB-BA26-4D9FE4FD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0510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怖くないか、伝わるか、雰囲気が合うかを見る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9E141-8FCA-489B-9DDA-DCAB8A21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14550"/>
            <a:ext cx="2895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4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6A5E8-0B75-4E15-AA40-DDBDCDFD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14550"/>
            <a:ext cx="2895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EC8C8-75AD-4A1D-9934-D76EFF6A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SNS下書き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6368A3-5797-41C9-8D81-8A919638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0510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投稿文の案を選び、短く直す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53F3C-2DC9-4EC2-8E2D-439D04E2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2895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4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FB9A11-2A24-4C26-BC37-5D68778C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2895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11AC2E-3F7C-4993-BC95-8FB7EB5A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LP見出し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D68963-B476-4584-B53F-7C2C3596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480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わかりやすい言葉に置き換える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A370CB-6E0F-40AA-A7DF-67569316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24250"/>
            <a:ext cx="2895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4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C4752-2E57-4C34-9209-87F713CF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24250"/>
            <a:ext cx="2895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3913FF-58F5-4290-A84E-86E35CD8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90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誤字確認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DA3EFF-F0C1-4097-9D05-1679EC5C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1480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公開前のチェックリストに沿って確認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B87FC0-A6B2-4453-AA1B-531A0739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24250"/>
            <a:ext cx="2895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1922">
                <a:alpha val="14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792E45-A140-4D44-8650-E9E423B1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24250"/>
            <a:ext cx="2895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601199-9004-4070-8599-7A5D006E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90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1922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51922"/>
                </a:solidFill>
                <a:latin typeface="Yu Gothic"/>
                <a:ea typeface="Yu Gothic"/>
                <a:cs typeface="Yu Gothic"/>
              </a:rPr>
              <a:t>Canva調整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9F3A95-F242-4DE6-ACB3-B0FAEDC0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14800"/>
            <a:ext cx="228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文字位置、余白、色を整える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3DA5CE-B301-495A-85E9-5B913171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942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8D95FB-A899-4FEC-9777-3D46A801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72100"/>
            <a:ext cx="828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導入の見せ方: “AIに任せる”ではなく、“AIの案を見て、人が選び、作品に近づける”。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ED1879-0629-4608-B77C-4FC7EC71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>
              <a:alpha val="1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7D602E-2178-4078-B9D8-1CE5D4AE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229350"/>
            <a:ext cx="733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51922">
                    <a:alpha val="5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151922">
                    <a:alpha val="52000"/>
                  </a:srgbClr>
                </a:solidFill>
                <a:latin typeface="Yu Gothic"/>
                <a:ea typeface="Yu Gothic"/>
                <a:cs typeface="Yu Gothic"/>
              </a:rPr>
              <a:t>Work-menu examples for staff discussion; final task design should match each user's condition and interest.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C1FE3F-36AA-4821-B2CA-BF600935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51922">
                    <a:alpha val="5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51922">
                    <a:alpha val="58000"/>
                  </a:srgbClr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694298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951FB2-6573-4C85-A25C-621029D1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4AE791BD-8DFF-4E0D-83A8-FEDFE1F4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323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BCA08772-6E1A-48A1-9AE6-A16DA0D3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C79A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55C79A"/>
                </a:solidFill>
                <a:latin typeface="Yu Gothic"/>
                <a:ea typeface="Yu Gothic"/>
                <a:cs typeface="Yu Gothic"/>
              </a:rPr>
              <a:t>DEMO SLOT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971E2-5C6D-4D12-8C8A-2C530A3A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最後は、LPとバナーの仮素材を差し替えてその場で完成度を見せる。</a:t>
            </a:r>
          </a:p>
        </p:txBody>
      </p:sp>
      <p:sp>
        <p:nvSpPr>
          <p:cNvPr id="5" name="FINAL_LP_SLOT">
            <a:extLst xmlns:a="http://schemas.openxmlformats.org/drawingml/2006/main">
              <a:ext uri="{FF2B5EF4-FFF2-40B4-BE49-F238E27FC236}">
                <a16:creationId xmlns:a16="http://schemas.microsoft.com/office/drawing/2014/main" id="{B49D0252-445A-4A95-887E-118AB71C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4476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4F992-0534-4DE2-8501-1EEF0D44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41338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00"/>
            </a:srgbClr>
          </a:solidFill>
          <a:ln xmlns:a="http://schemas.openxmlformats.org/drawingml/2006/main"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35C63-11D0-4C8F-B435-96CAD93A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rPr>
              <a:t>LP例 差し込み枠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5661E-6FCA-4F19-8C76-D4993667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47900"/>
            <a:ext cx="19812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2"/>
          </a:solidFill>
          <a:ln xmlns:a="http://schemas.openxmlformats.org/drawingml/2006/main" w="9525">
            <a:solidFill>
              <a:srgbClr val="151922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949C6-929C-466D-8546-CB2C6C65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19350"/>
            <a:ext cx="1714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C7559-4E3E-49A6-8F66-A1F16FBD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47950"/>
            <a:ext cx="1371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7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9DE0B-F4D1-47F4-9D7D-50F52F65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38450"/>
            <a:ext cx="723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393F0-08A1-4C2B-8AB4-A2DE87E3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67050"/>
            <a:ext cx="12668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44BDE-FED5-4DE1-9918-19E26A07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337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ACE974-F5CD-491B-B7E8-4800AEFE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81425"/>
            <a:ext cx="923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2FE52-E413-4899-A069-DAB0F9F8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57650"/>
            <a:ext cx="9620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902FC-3FE8-42F3-9A78-7344845B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33850"/>
            <a:ext cx="666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LP仮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617B7B-4620-42BE-8BB3-1875E915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95800"/>
            <a:ext cx="276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56D728-6A01-4E8D-B9D0-464E2FC8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95800"/>
            <a:ext cx="276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43114-402E-487E-B3BB-DFDA1535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95800"/>
            <a:ext cx="276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7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c74171ded4164"/>
          <a:stretch xmlns:a="http://schemas.openxmlformats.org/drawingml/2006/main"/>
        </p:blipFill>
        <p:spPr>
          <a:xfrm xmlns:a="http://schemas.openxmlformats.org/drawingml/2006/main">
            <a:off x="5963560" y="2133600"/>
            <a:ext cx="3712930" cy="19431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6391b785314bd4"/>
          <a:stretch xmlns:a="http://schemas.openxmlformats.org/drawingml/2006/main"/>
        </p:blipFill>
        <p:spPr>
          <a:xfrm xmlns:a="http://schemas.openxmlformats.org/drawingml/2006/main">
            <a:off x="9982200" y="2133600"/>
            <a:ext cx="1447800" cy="14478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90CBF-1202-4AB1-8930-95B7CC59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43400"/>
            <a:ext cx="5467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51B45C-D0D4-4D2A-BCE0-93532876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33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C94C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F2C94C"/>
                </a:solidFill>
                <a:latin typeface="Yu Gothic"/>
                <a:ea typeface="Yu Gothic"/>
                <a:cs typeface="Yu Gothic"/>
              </a:rPr>
              <a:t>差し替え前提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6CBA24-8A64-4F45-BB3F-7EB7D717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14850"/>
            <a:ext cx="327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>
                    <a:alpha val="70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>
                    <a:alpha val="70000"/>
                  </a:srgbClr>
                </a:solidFill>
                <a:latin typeface="Yu Gothic"/>
                <a:ea typeface="Yu Gothic"/>
                <a:cs typeface="Yu Gothic"/>
              </a:rPr>
              <a:t>いま作成中のLP画像・バナー画像に置き換えれば、同じ構成のまま本番デモに使えます。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A6F3A5-59E2-45C4-8559-74547C91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85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5C79A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55C79A"/>
                </a:solidFill>
                <a:latin typeface="Yu Gothic"/>
                <a:ea typeface="Yu Gothic"/>
                <a:cs typeface="Yu Gothic"/>
              </a:rPr>
              <a:t>Q&amp;A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03C492-0994-42CE-B2B6-48919205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76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>
                    <a:alpha val="72000"/>
                  </a:srgbClr>
                </a:solidFill>
                <a:latin typeface="Yu Gothic"/>
                <a:ea typeface="Yu Gothic"/>
                <a:cs typeface="Yu Gothic"/>
              </a:rPr>
              <a:t>質問は「何ができるか」より「どの業務から小さく試すか」に戻す。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7E72B0-5023-4C0E-9455-CC3DEB6D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8F3E2B-24B4-40B9-89D7-1F04CDED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229350"/>
            <a:ext cx="733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750" b="0">
                <a:solidFill>
                  <a:srgbClr val="FFFFFF">
                    <a:alpha val="56000"/>
                  </a:srgbClr>
                </a:solidFill>
                <a:latin typeface="Yu Gothic"/>
                <a:ea typeface="Yu Gothic"/>
                <a:cs typeface="Yu Gothic"/>
              </a:rPr>
              <a:t>Temporary placeholders: replace the LP slot and banner images before the live presentation.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40236C-81D7-479F-9FD5-1E4E3A46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FFFFFF">
                    <a:alpha val="68000"/>
                  </a:srgbClr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90166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2026-05-10T05:56:51.8950000Z</dcterms:created>
  <dcterms:modified xsi:type="dcterms:W3CDTF">2026-05-10T05:56:51.8950000Z</dcterms:modified>
</coreProperties>
</file>